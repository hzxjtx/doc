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00" autoAdjust="0"/>
    <p:restoredTop sz="94660"/>
  </p:normalViewPr>
  <p:slideViewPr>
    <p:cSldViewPr snapToGrid="0">
      <p:cViewPr>
        <p:scale>
          <a:sx n="100" d="100"/>
          <a:sy n="100" d="100"/>
        </p:scale>
        <p:origin x="888" y="6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D45EEFC-723B-466A-8E92-06FF52A055FB}" type="datetimeFigureOut">
              <a:rPr lang="en-US" smtClean="0"/>
              <a:t>9/1/2015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F193E1-2E13-40D6-9264-2C389BFD306B}" type="slidenum">
              <a:rPr lang="en-US" smtClean="0"/>
              <a:t>‹#›</a:t>
            </a:fld>
            <a:endParaRPr lang="en-US"/>
          </a:p>
        </p:txBody>
      </p:sp>
    </p:spTree>
    <p:extLst>
      <p:ext uri="{BB962C8B-B14F-4D97-AF65-F5344CB8AC3E}">
        <p14:creationId xmlns:p14="http://schemas.microsoft.com/office/powerpoint/2010/main" val="15199264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D45EEFC-723B-466A-8E92-06FF52A055FB}" type="datetimeFigureOut">
              <a:rPr lang="en-US" smtClean="0"/>
              <a:t>9/1/2015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F193E1-2E13-40D6-9264-2C389BFD306B}" type="slidenum">
              <a:rPr lang="en-US" smtClean="0"/>
              <a:t>‹#›</a:t>
            </a:fld>
            <a:endParaRPr lang="en-US"/>
          </a:p>
        </p:txBody>
      </p:sp>
    </p:spTree>
    <p:extLst>
      <p:ext uri="{BB962C8B-B14F-4D97-AF65-F5344CB8AC3E}">
        <p14:creationId xmlns:p14="http://schemas.microsoft.com/office/powerpoint/2010/main" val="35187435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D45EEFC-723B-466A-8E92-06FF52A055FB}" type="datetimeFigureOut">
              <a:rPr lang="en-US" smtClean="0"/>
              <a:t>9/1/2015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F193E1-2E13-40D6-9264-2C389BFD306B}" type="slidenum">
              <a:rPr lang="en-US" smtClean="0"/>
              <a:t>‹#›</a:t>
            </a:fld>
            <a:endParaRPr lang="en-US"/>
          </a:p>
        </p:txBody>
      </p:sp>
    </p:spTree>
    <p:extLst>
      <p:ext uri="{BB962C8B-B14F-4D97-AF65-F5344CB8AC3E}">
        <p14:creationId xmlns:p14="http://schemas.microsoft.com/office/powerpoint/2010/main" val="25298468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D45EEFC-723B-466A-8E92-06FF52A055FB}" type="datetimeFigureOut">
              <a:rPr lang="en-US" smtClean="0"/>
              <a:t>9/1/2015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F193E1-2E13-40D6-9264-2C389BFD306B}" type="slidenum">
              <a:rPr lang="en-US" smtClean="0"/>
              <a:t>‹#›</a:t>
            </a:fld>
            <a:endParaRPr lang="en-US"/>
          </a:p>
        </p:txBody>
      </p:sp>
    </p:spTree>
    <p:extLst>
      <p:ext uri="{BB962C8B-B14F-4D97-AF65-F5344CB8AC3E}">
        <p14:creationId xmlns:p14="http://schemas.microsoft.com/office/powerpoint/2010/main" val="27198877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D45EEFC-723B-466A-8E92-06FF52A055FB}" type="datetimeFigureOut">
              <a:rPr lang="en-US" smtClean="0"/>
              <a:t>9/1/2015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4F193E1-2E13-40D6-9264-2C389BFD306B}" type="slidenum">
              <a:rPr lang="en-US" smtClean="0"/>
              <a:t>‹#›</a:t>
            </a:fld>
            <a:endParaRPr lang="en-US"/>
          </a:p>
        </p:txBody>
      </p:sp>
    </p:spTree>
    <p:extLst>
      <p:ext uri="{BB962C8B-B14F-4D97-AF65-F5344CB8AC3E}">
        <p14:creationId xmlns:p14="http://schemas.microsoft.com/office/powerpoint/2010/main" val="7639454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D45EEFC-723B-466A-8E92-06FF52A055FB}" type="datetimeFigureOut">
              <a:rPr lang="en-US" smtClean="0"/>
              <a:t>9/1/2015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4F193E1-2E13-40D6-9264-2C389BFD306B}" type="slidenum">
              <a:rPr lang="en-US" smtClean="0"/>
              <a:t>‹#›</a:t>
            </a:fld>
            <a:endParaRPr lang="en-US"/>
          </a:p>
        </p:txBody>
      </p:sp>
    </p:spTree>
    <p:extLst>
      <p:ext uri="{BB962C8B-B14F-4D97-AF65-F5344CB8AC3E}">
        <p14:creationId xmlns:p14="http://schemas.microsoft.com/office/powerpoint/2010/main" val="27343962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45EEFC-723B-466A-8E92-06FF52A055FB}" type="datetimeFigureOut">
              <a:rPr lang="en-US" smtClean="0"/>
              <a:t>9/1/2015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4F193E1-2E13-40D6-9264-2C389BFD306B}" type="slidenum">
              <a:rPr lang="en-US" smtClean="0"/>
              <a:t>‹#›</a:t>
            </a:fld>
            <a:endParaRPr lang="en-US"/>
          </a:p>
        </p:txBody>
      </p:sp>
    </p:spTree>
    <p:extLst>
      <p:ext uri="{BB962C8B-B14F-4D97-AF65-F5344CB8AC3E}">
        <p14:creationId xmlns:p14="http://schemas.microsoft.com/office/powerpoint/2010/main" val="22165124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D45EEFC-723B-466A-8E92-06FF52A055FB}" type="datetimeFigureOut">
              <a:rPr lang="en-US" smtClean="0"/>
              <a:t>9/1/2015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F193E1-2E13-40D6-9264-2C389BFD306B}" type="slidenum">
              <a:rPr lang="en-US" smtClean="0"/>
              <a:t>‹#›</a:t>
            </a:fld>
            <a:endParaRPr lang="en-US"/>
          </a:p>
        </p:txBody>
      </p:sp>
    </p:spTree>
    <p:extLst>
      <p:ext uri="{BB962C8B-B14F-4D97-AF65-F5344CB8AC3E}">
        <p14:creationId xmlns:p14="http://schemas.microsoft.com/office/powerpoint/2010/main" val="22096395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D45EEFC-723B-466A-8E92-06FF52A055FB}" type="datetimeFigureOut">
              <a:rPr lang="en-US" smtClean="0"/>
              <a:t>9/1/2015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F193E1-2E13-40D6-9264-2C389BFD306B}" type="slidenum">
              <a:rPr lang="en-US" smtClean="0"/>
              <a:t>‹#›</a:t>
            </a:fld>
            <a:endParaRPr lang="en-US"/>
          </a:p>
        </p:txBody>
      </p:sp>
    </p:spTree>
    <p:extLst>
      <p:ext uri="{BB962C8B-B14F-4D97-AF65-F5344CB8AC3E}">
        <p14:creationId xmlns:p14="http://schemas.microsoft.com/office/powerpoint/2010/main" val="14230130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D45EEFC-723B-466A-8E92-06FF52A055FB}" type="datetimeFigureOut">
              <a:rPr lang="en-US" smtClean="0"/>
              <a:t>9/1/2015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F193E1-2E13-40D6-9264-2C389BFD306B}" type="slidenum">
              <a:rPr lang="en-US" smtClean="0"/>
              <a:t>‹#›</a:t>
            </a:fld>
            <a:endParaRPr lang="en-US"/>
          </a:p>
        </p:txBody>
      </p:sp>
    </p:spTree>
    <p:extLst>
      <p:ext uri="{BB962C8B-B14F-4D97-AF65-F5344CB8AC3E}">
        <p14:creationId xmlns:p14="http://schemas.microsoft.com/office/powerpoint/2010/main" val="12213521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D45EEFC-723B-466A-8E92-06FF52A055FB}" type="datetimeFigureOut">
              <a:rPr lang="en-US" smtClean="0"/>
              <a:t>9/1/2015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F193E1-2E13-40D6-9264-2C389BFD306B}" type="slidenum">
              <a:rPr lang="en-US" smtClean="0"/>
              <a:t>‹#›</a:t>
            </a:fld>
            <a:endParaRPr lang="en-US"/>
          </a:p>
        </p:txBody>
      </p:sp>
    </p:spTree>
    <p:extLst>
      <p:ext uri="{BB962C8B-B14F-4D97-AF65-F5344CB8AC3E}">
        <p14:creationId xmlns:p14="http://schemas.microsoft.com/office/powerpoint/2010/main" val="10296918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45EEFC-723B-466A-8E92-06FF52A055FB}" type="datetimeFigureOut">
              <a:rPr lang="en-US" smtClean="0"/>
              <a:t>9/1/2015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F193E1-2E13-40D6-9264-2C389BFD306B}" type="slidenum">
              <a:rPr lang="en-US" smtClean="0"/>
              <a:t>‹#›</a:t>
            </a:fld>
            <a:endParaRPr lang="en-US"/>
          </a:p>
        </p:txBody>
      </p:sp>
    </p:spTree>
    <p:extLst>
      <p:ext uri="{BB962C8B-B14F-4D97-AF65-F5344CB8AC3E}">
        <p14:creationId xmlns:p14="http://schemas.microsoft.com/office/powerpoint/2010/main" val="20634137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2"/>
            <a:ext cx="9144000" cy="4287837"/>
          </a:xfrm>
        </p:spPr>
        <p:txBody>
          <a:bodyPr>
            <a:normAutofit/>
          </a:bodyPr>
          <a:lstStyle/>
          <a:p>
            <a:r>
              <a:rPr lang="en-US" dirty="0" smtClean="0"/>
              <a:t>Click-Through Example for </a:t>
            </a:r>
            <a:r>
              <a:rPr lang="en-US" dirty="0" err="1" smtClean="0"/>
              <a:t>Flink’s</a:t>
            </a:r>
            <a:r>
              <a:rPr lang="en-US" dirty="0" smtClean="0"/>
              <a:t> </a:t>
            </a:r>
            <a:r>
              <a:rPr lang="en-US" dirty="0" err="1" smtClean="0"/>
              <a:t>KafkaConsumer</a:t>
            </a:r>
            <a:r>
              <a:rPr lang="en-US" dirty="0" smtClean="0"/>
              <a:t> </a:t>
            </a:r>
            <a:r>
              <a:rPr lang="en-US" dirty="0" err="1" smtClean="0"/>
              <a:t>Checkpointing</a:t>
            </a:r>
            <a:endParaRPr lang="en-US" dirty="0"/>
          </a:p>
        </p:txBody>
      </p:sp>
    </p:spTree>
    <p:extLst>
      <p:ext uri="{BB962C8B-B14F-4D97-AF65-F5344CB8AC3E}">
        <p14:creationId xmlns:p14="http://schemas.microsoft.com/office/powerpoint/2010/main" val="302523388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p:cNvGrpSpPr/>
          <p:nvPr/>
        </p:nvGrpSpPr>
        <p:grpSpPr>
          <a:xfrm>
            <a:off x="444136" y="4615543"/>
            <a:ext cx="2960916" cy="391886"/>
            <a:chOff x="905690" y="3614057"/>
            <a:chExt cx="2960916" cy="391886"/>
          </a:xfrm>
        </p:grpSpPr>
        <p:sp>
          <p:nvSpPr>
            <p:cNvPr id="5" name="Rectangle 4"/>
            <p:cNvSpPr/>
            <p:nvPr/>
          </p:nvSpPr>
          <p:spPr>
            <a:xfrm>
              <a:off x="905691" y="3614057"/>
              <a:ext cx="2960915" cy="39188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7" name="TextBox 6"/>
            <p:cNvSpPr txBox="1"/>
            <p:nvPr/>
          </p:nvSpPr>
          <p:spPr>
            <a:xfrm>
              <a:off x="905690" y="3636611"/>
              <a:ext cx="609601" cy="369332"/>
            </a:xfrm>
            <a:prstGeom prst="rect">
              <a:avLst/>
            </a:prstGeom>
            <a:noFill/>
          </p:spPr>
          <p:txBody>
            <a:bodyPr wrap="square" rtlCol="0">
              <a:spAutoFit/>
            </a:bodyPr>
            <a:lstStyle/>
            <a:p>
              <a:pPr algn="ctr"/>
              <a:r>
                <a:rPr lang="en-US" dirty="0" smtClean="0"/>
                <a:t>a</a:t>
              </a:r>
              <a:endParaRPr lang="en-US" dirty="0"/>
            </a:p>
          </p:txBody>
        </p:sp>
        <p:sp>
          <p:nvSpPr>
            <p:cNvPr id="8" name="TextBox 7"/>
            <p:cNvSpPr txBox="1"/>
            <p:nvPr/>
          </p:nvSpPr>
          <p:spPr>
            <a:xfrm>
              <a:off x="1473380" y="3636611"/>
              <a:ext cx="609601" cy="369332"/>
            </a:xfrm>
            <a:prstGeom prst="rect">
              <a:avLst/>
            </a:prstGeom>
            <a:noFill/>
          </p:spPr>
          <p:txBody>
            <a:bodyPr wrap="square" rtlCol="0">
              <a:spAutoFit/>
            </a:bodyPr>
            <a:lstStyle/>
            <a:p>
              <a:pPr algn="ctr"/>
              <a:r>
                <a:rPr lang="en-US" dirty="0"/>
                <a:t>b</a:t>
              </a:r>
            </a:p>
          </p:txBody>
        </p:sp>
        <p:sp>
          <p:nvSpPr>
            <p:cNvPr id="9" name="TextBox 8"/>
            <p:cNvSpPr txBox="1"/>
            <p:nvPr/>
          </p:nvSpPr>
          <p:spPr>
            <a:xfrm>
              <a:off x="2041070" y="3636611"/>
              <a:ext cx="609601" cy="369332"/>
            </a:xfrm>
            <a:prstGeom prst="rect">
              <a:avLst/>
            </a:prstGeom>
            <a:noFill/>
          </p:spPr>
          <p:txBody>
            <a:bodyPr wrap="square" rtlCol="0">
              <a:spAutoFit/>
            </a:bodyPr>
            <a:lstStyle/>
            <a:p>
              <a:pPr algn="ctr"/>
              <a:r>
                <a:rPr lang="en-US" dirty="0" smtClean="0"/>
                <a:t>c</a:t>
              </a:r>
              <a:endParaRPr lang="en-US" dirty="0"/>
            </a:p>
          </p:txBody>
        </p:sp>
        <p:sp>
          <p:nvSpPr>
            <p:cNvPr id="10" name="TextBox 9"/>
            <p:cNvSpPr txBox="1"/>
            <p:nvPr/>
          </p:nvSpPr>
          <p:spPr>
            <a:xfrm>
              <a:off x="2608760" y="3636611"/>
              <a:ext cx="609601" cy="369332"/>
            </a:xfrm>
            <a:prstGeom prst="rect">
              <a:avLst/>
            </a:prstGeom>
            <a:noFill/>
          </p:spPr>
          <p:txBody>
            <a:bodyPr wrap="square" rtlCol="0">
              <a:spAutoFit/>
            </a:bodyPr>
            <a:lstStyle/>
            <a:p>
              <a:pPr algn="ctr"/>
              <a:r>
                <a:rPr lang="en-US" dirty="0" smtClean="0"/>
                <a:t>d</a:t>
              </a:r>
              <a:endParaRPr lang="en-US" dirty="0"/>
            </a:p>
          </p:txBody>
        </p:sp>
        <p:sp>
          <p:nvSpPr>
            <p:cNvPr id="11" name="TextBox 10"/>
            <p:cNvSpPr txBox="1"/>
            <p:nvPr/>
          </p:nvSpPr>
          <p:spPr>
            <a:xfrm>
              <a:off x="3176451" y="3636611"/>
              <a:ext cx="609601" cy="369332"/>
            </a:xfrm>
            <a:prstGeom prst="rect">
              <a:avLst/>
            </a:prstGeom>
            <a:noFill/>
          </p:spPr>
          <p:txBody>
            <a:bodyPr wrap="square" rtlCol="0">
              <a:spAutoFit/>
            </a:bodyPr>
            <a:lstStyle/>
            <a:p>
              <a:pPr algn="ctr"/>
              <a:r>
                <a:rPr lang="en-US" dirty="0"/>
                <a:t>e</a:t>
              </a:r>
            </a:p>
          </p:txBody>
        </p:sp>
      </p:grpSp>
      <p:grpSp>
        <p:nvGrpSpPr>
          <p:cNvPr id="24" name="Group 23"/>
          <p:cNvGrpSpPr/>
          <p:nvPr/>
        </p:nvGrpSpPr>
        <p:grpSpPr>
          <a:xfrm>
            <a:off x="444136" y="5394960"/>
            <a:ext cx="2960916" cy="391886"/>
            <a:chOff x="1058090" y="3766457"/>
            <a:chExt cx="2960916" cy="391886"/>
          </a:xfrm>
        </p:grpSpPr>
        <p:sp>
          <p:nvSpPr>
            <p:cNvPr id="18" name="Rectangle 17"/>
            <p:cNvSpPr/>
            <p:nvPr/>
          </p:nvSpPr>
          <p:spPr>
            <a:xfrm>
              <a:off x="1058091" y="3766457"/>
              <a:ext cx="2960915" cy="39188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9" name="TextBox 18"/>
            <p:cNvSpPr txBox="1"/>
            <p:nvPr/>
          </p:nvSpPr>
          <p:spPr>
            <a:xfrm>
              <a:off x="1058090" y="3789011"/>
              <a:ext cx="609601" cy="369332"/>
            </a:xfrm>
            <a:prstGeom prst="rect">
              <a:avLst/>
            </a:prstGeom>
            <a:noFill/>
          </p:spPr>
          <p:txBody>
            <a:bodyPr wrap="square" rtlCol="0">
              <a:spAutoFit/>
            </a:bodyPr>
            <a:lstStyle/>
            <a:p>
              <a:pPr algn="ctr"/>
              <a:r>
                <a:rPr lang="en-US" dirty="0" smtClean="0"/>
                <a:t>a</a:t>
              </a:r>
              <a:endParaRPr lang="en-US" dirty="0"/>
            </a:p>
          </p:txBody>
        </p:sp>
        <p:sp>
          <p:nvSpPr>
            <p:cNvPr id="20" name="TextBox 19"/>
            <p:cNvSpPr txBox="1"/>
            <p:nvPr/>
          </p:nvSpPr>
          <p:spPr>
            <a:xfrm>
              <a:off x="1625780" y="3789011"/>
              <a:ext cx="609601" cy="369332"/>
            </a:xfrm>
            <a:prstGeom prst="rect">
              <a:avLst/>
            </a:prstGeom>
            <a:noFill/>
          </p:spPr>
          <p:txBody>
            <a:bodyPr wrap="square" rtlCol="0">
              <a:spAutoFit/>
            </a:bodyPr>
            <a:lstStyle/>
            <a:p>
              <a:pPr algn="ctr"/>
              <a:r>
                <a:rPr lang="en-US" dirty="0"/>
                <a:t>b</a:t>
              </a:r>
            </a:p>
          </p:txBody>
        </p:sp>
        <p:sp>
          <p:nvSpPr>
            <p:cNvPr id="21" name="TextBox 20"/>
            <p:cNvSpPr txBox="1"/>
            <p:nvPr/>
          </p:nvSpPr>
          <p:spPr>
            <a:xfrm>
              <a:off x="2193470" y="3789011"/>
              <a:ext cx="609601" cy="369332"/>
            </a:xfrm>
            <a:prstGeom prst="rect">
              <a:avLst/>
            </a:prstGeom>
            <a:noFill/>
          </p:spPr>
          <p:txBody>
            <a:bodyPr wrap="square" rtlCol="0">
              <a:spAutoFit/>
            </a:bodyPr>
            <a:lstStyle/>
            <a:p>
              <a:pPr algn="ctr"/>
              <a:r>
                <a:rPr lang="en-US" dirty="0" smtClean="0"/>
                <a:t>c</a:t>
              </a:r>
              <a:endParaRPr lang="en-US" dirty="0"/>
            </a:p>
          </p:txBody>
        </p:sp>
        <p:sp>
          <p:nvSpPr>
            <p:cNvPr id="22" name="TextBox 21"/>
            <p:cNvSpPr txBox="1"/>
            <p:nvPr/>
          </p:nvSpPr>
          <p:spPr>
            <a:xfrm>
              <a:off x="2761160" y="3789011"/>
              <a:ext cx="609601" cy="369332"/>
            </a:xfrm>
            <a:prstGeom prst="rect">
              <a:avLst/>
            </a:prstGeom>
            <a:noFill/>
          </p:spPr>
          <p:txBody>
            <a:bodyPr wrap="square" rtlCol="0">
              <a:spAutoFit/>
            </a:bodyPr>
            <a:lstStyle/>
            <a:p>
              <a:pPr algn="ctr"/>
              <a:r>
                <a:rPr lang="en-US" dirty="0" smtClean="0"/>
                <a:t>d</a:t>
              </a:r>
              <a:endParaRPr lang="en-US" dirty="0"/>
            </a:p>
          </p:txBody>
        </p:sp>
        <p:sp>
          <p:nvSpPr>
            <p:cNvPr id="23" name="TextBox 22"/>
            <p:cNvSpPr txBox="1"/>
            <p:nvPr/>
          </p:nvSpPr>
          <p:spPr>
            <a:xfrm>
              <a:off x="3328851" y="3789011"/>
              <a:ext cx="609601" cy="369332"/>
            </a:xfrm>
            <a:prstGeom prst="rect">
              <a:avLst/>
            </a:prstGeom>
            <a:noFill/>
          </p:spPr>
          <p:txBody>
            <a:bodyPr wrap="square" rtlCol="0">
              <a:spAutoFit/>
            </a:bodyPr>
            <a:lstStyle/>
            <a:p>
              <a:pPr algn="ctr"/>
              <a:r>
                <a:rPr lang="en-US" dirty="0"/>
                <a:t>e</a:t>
              </a:r>
            </a:p>
          </p:txBody>
        </p:sp>
      </p:grpSp>
      <p:sp>
        <p:nvSpPr>
          <p:cNvPr id="26" name="Rectangle 25"/>
          <p:cNvSpPr/>
          <p:nvPr/>
        </p:nvSpPr>
        <p:spPr>
          <a:xfrm>
            <a:off x="3762102" y="4615544"/>
            <a:ext cx="2386149" cy="3918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Flink</a:t>
            </a:r>
            <a:r>
              <a:rPr lang="en-US" dirty="0" smtClean="0"/>
              <a:t> Kafka Consumer</a:t>
            </a:r>
            <a:endParaRPr lang="en-US" dirty="0"/>
          </a:p>
        </p:txBody>
      </p:sp>
      <p:sp>
        <p:nvSpPr>
          <p:cNvPr id="27" name="Rectangle 26"/>
          <p:cNvSpPr/>
          <p:nvPr/>
        </p:nvSpPr>
        <p:spPr>
          <a:xfrm>
            <a:off x="3762102" y="5394960"/>
            <a:ext cx="2386149" cy="3918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Flink</a:t>
            </a:r>
            <a:r>
              <a:rPr lang="en-US" dirty="0" smtClean="0"/>
              <a:t> Kafka Consumer</a:t>
            </a:r>
            <a:endParaRPr lang="en-US" dirty="0"/>
          </a:p>
        </p:txBody>
      </p:sp>
      <p:sp>
        <p:nvSpPr>
          <p:cNvPr id="28" name="Rectangle 27"/>
          <p:cNvSpPr/>
          <p:nvPr/>
        </p:nvSpPr>
        <p:spPr>
          <a:xfrm>
            <a:off x="6737166" y="5007429"/>
            <a:ext cx="2386149" cy="3918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Flink</a:t>
            </a:r>
            <a:r>
              <a:rPr lang="en-US" dirty="0" smtClean="0"/>
              <a:t> Map Operator</a:t>
            </a:r>
            <a:endParaRPr lang="en-US" dirty="0"/>
          </a:p>
        </p:txBody>
      </p:sp>
      <p:cxnSp>
        <p:nvCxnSpPr>
          <p:cNvPr id="30" name="Straight Arrow Connector 29"/>
          <p:cNvCxnSpPr>
            <a:stCxn id="5" idx="3"/>
            <a:endCxn id="26" idx="1"/>
          </p:cNvCxnSpPr>
          <p:nvPr/>
        </p:nvCxnSpPr>
        <p:spPr>
          <a:xfrm>
            <a:off x="3405052" y="4811486"/>
            <a:ext cx="35705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18" idx="3"/>
            <a:endCxn id="27" idx="1"/>
          </p:cNvCxnSpPr>
          <p:nvPr/>
        </p:nvCxnSpPr>
        <p:spPr>
          <a:xfrm>
            <a:off x="3405052" y="5590903"/>
            <a:ext cx="3570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26" idx="3"/>
            <a:endCxn id="28" idx="1"/>
          </p:cNvCxnSpPr>
          <p:nvPr/>
        </p:nvCxnSpPr>
        <p:spPr>
          <a:xfrm>
            <a:off x="6148251" y="4811487"/>
            <a:ext cx="588915" cy="3918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27" idx="3"/>
            <a:endCxn id="28" idx="1"/>
          </p:cNvCxnSpPr>
          <p:nvPr/>
        </p:nvCxnSpPr>
        <p:spPr>
          <a:xfrm flipV="1">
            <a:off x="6148251" y="5203372"/>
            <a:ext cx="588915" cy="3875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7037611" y="3304596"/>
            <a:ext cx="1785257" cy="369332"/>
          </a:xfrm>
          <a:prstGeom prst="rect">
            <a:avLst/>
          </a:prstGeom>
          <a:noFill/>
        </p:spPr>
        <p:txBody>
          <a:bodyPr wrap="square" rtlCol="0">
            <a:spAutoFit/>
          </a:bodyPr>
          <a:lstStyle/>
          <a:p>
            <a:r>
              <a:rPr lang="en-US" dirty="0" smtClean="0"/>
              <a:t>counter = 0</a:t>
            </a:r>
          </a:p>
        </p:txBody>
      </p:sp>
      <p:cxnSp>
        <p:nvCxnSpPr>
          <p:cNvPr id="43" name="Straight Connector 42"/>
          <p:cNvCxnSpPr/>
          <p:nvPr/>
        </p:nvCxnSpPr>
        <p:spPr>
          <a:xfrm>
            <a:off x="576943" y="4487092"/>
            <a:ext cx="0" cy="683622"/>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44" name="Straight Connector 43"/>
          <p:cNvCxnSpPr/>
          <p:nvPr/>
        </p:nvCxnSpPr>
        <p:spPr>
          <a:xfrm>
            <a:off x="576943" y="5249092"/>
            <a:ext cx="0" cy="683622"/>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31" name="Rectangle 30"/>
          <p:cNvSpPr/>
          <p:nvPr/>
        </p:nvSpPr>
        <p:spPr>
          <a:xfrm>
            <a:off x="386442" y="772887"/>
            <a:ext cx="2328456" cy="12409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b="1" u="sng" dirty="0" smtClean="0"/>
              <a:t>Zookeeper</a:t>
            </a:r>
          </a:p>
          <a:p>
            <a:r>
              <a:rPr lang="en-US" dirty="0" smtClean="0"/>
              <a:t>offset partition 0: 0</a:t>
            </a:r>
          </a:p>
          <a:p>
            <a:r>
              <a:rPr lang="en-US" dirty="0" smtClean="0"/>
              <a:t>offset partition 1: 0</a:t>
            </a:r>
            <a:endParaRPr lang="en-US" dirty="0"/>
          </a:p>
        </p:txBody>
      </p:sp>
      <p:sp>
        <p:nvSpPr>
          <p:cNvPr id="2" name="Rectangle 1"/>
          <p:cNvSpPr/>
          <p:nvPr/>
        </p:nvSpPr>
        <p:spPr>
          <a:xfrm>
            <a:off x="3324498" y="772887"/>
            <a:ext cx="4295502" cy="17634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b="1" u="sng" dirty="0" err="1" smtClean="0"/>
              <a:t>Flink</a:t>
            </a:r>
            <a:r>
              <a:rPr lang="en-US" b="1" u="sng" dirty="0" smtClean="0"/>
              <a:t> Checkpoint Coordinator</a:t>
            </a:r>
          </a:p>
          <a:p>
            <a:r>
              <a:rPr lang="en-US" dirty="0" smtClean="0"/>
              <a:t>Pending:</a:t>
            </a:r>
          </a:p>
          <a:p>
            <a:r>
              <a:rPr lang="en-US" dirty="0" smtClean="0"/>
              <a:t>Completed: </a:t>
            </a:r>
            <a:endParaRPr lang="en-US" dirty="0"/>
          </a:p>
        </p:txBody>
      </p:sp>
      <p:sp>
        <p:nvSpPr>
          <p:cNvPr id="33" name="TextBox 32"/>
          <p:cNvSpPr txBox="1"/>
          <p:nvPr/>
        </p:nvSpPr>
        <p:spPr>
          <a:xfrm>
            <a:off x="3686992" y="3304596"/>
            <a:ext cx="1785257" cy="369332"/>
          </a:xfrm>
          <a:prstGeom prst="rect">
            <a:avLst/>
          </a:prstGeom>
          <a:noFill/>
        </p:spPr>
        <p:txBody>
          <a:bodyPr wrap="square" rtlCol="0">
            <a:spAutoFit/>
          </a:bodyPr>
          <a:lstStyle/>
          <a:p>
            <a:r>
              <a:rPr lang="en-US" dirty="0" smtClean="0"/>
              <a:t>offsets = 0, 0</a:t>
            </a:r>
          </a:p>
        </p:txBody>
      </p:sp>
      <p:sp>
        <p:nvSpPr>
          <p:cNvPr id="3" name="TextBox 2"/>
          <p:cNvSpPr txBox="1"/>
          <p:nvPr/>
        </p:nvSpPr>
        <p:spPr>
          <a:xfrm>
            <a:off x="444136" y="6143625"/>
            <a:ext cx="10833464" cy="646331"/>
          </a:xfrm>
          <a:prstGeom prst="rect">
            <a:avLst/>
          </a:prstGeom>
          <a:noFill/>
        </p:spPr>
        <p:txBody>
          <a:bodyPr wrap="square" rtlCol="0">
            <a:spAutoFit/>
          </a:bodyPr>
          <a:lstStyle/>
          <a:p>
            <a:r>
              <a:rPr lang="en-US" dirty="0" smtClean="0"/>
              <a:t>This toy example is reading from a Kafka topic with two partitions, each containing “a”, “b”, “c”, … as messages.</a:t>
            </a:r>
          </a:p>
          <a:p>
            <a:r>
              <a:rPr lang="en-US" dirty="0" smtClean="0"/>
              <a:t>The offset is set to 0 for both partitions, a counter is initialized to 0.</a:t>
            </a:r>
            <a:endParaRPr lang="en-US" dirty="0"/>
          </a:p>
        </p:txBody>
      </p:sp>
    </p:spTree>
    <p:extLst>
      <p:ext uri="{BB962C8B-B14F-4D97-AF65-F5344CB8AC3E}">
        <p14:creationId xmlns:p14="http://schemas.microsoft.com/office/powerpoint/2010/main" val="365178663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p:cNvGrpSpPr/>
          <p:nvPr/>
        </p:nvGrpSpPr>
        <p:grpSpPr>
          <a:xfrm>
            <a:off x="444136" y="4615543"/>
            <a:ext cx="2960916" cy="391886"/>
            <a:chOff x="905690" y="3614057"/>
            <a:chExt cx="2960916" cy="391886"/>
          </a:xfrm>
        </p:grpSpPr>
        <p:sp>
          <p:nvSpPr>
            <p:cNvPr id="5" name="Rectangle 4"/>
            <p:cNvSpPr/>
            <p:nvPr/>
          </p:nvSpPr>
          <p:spPr>
            <a:xfrm>
              <a:off x="905691" y="3614057"/>
              <a:ext cx="2960915" cy="39188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7" name="TextBox 6"/>
            <p:cNvSpPr txBox="1"/>
            <p:nvPr/>
          </p:nvSpPr>
          <p:spPr>
            <a:xfrm>
              <a:off x="905690" y="3636611"/>
              <a:ext cx="609601" cy="369332"/>
            </a:xfrm>
            <a:prstGeom prst="rect">
              <a:avLst/>
            </a:prstGeom>
            <a:noFill/>
          </p:spPr>
          <p:txBody>
            <a:bodyPr wrap="square" rtlCol="0">
              <a:spAutoFit/>
            </a:bodyPr>
            <a:lstStyle/>
            <a:p>
              <a:pPr algn="ctr"/>
              <a:r>
                <a:rPr lang="en-US" dirty="0" smtClean="0"/>
                <a:t>a</a:t>
              </a:r>
              <a:endParaRPr lang="en-US" dirty="0"/>
            </a:p>
          </p:txBody>
        </p:sp>
        <p:sp>
          <p:nvSpPr>
            <p:cNvPr id="8" name="TextBox 7"/>
            <p:cNvSpPr txBox="1"/>
            <p:nvPr/>
          </p:nvSpPr>
          <p:spPr>
            <a:xfrm>
              <a:off x="1473380" y="3636611"/>
              <a:ext cx="609601" cy="369332"/>
            </a:xfrm>
            <a:prstGeom prst="rect">
              <a:avLst/>
            </a:prstGeom>
            <a:noFill/>
          </p:spPr>
          <p:txBody>
            <a:bodyPr wrap="square" rtlCol="0">
              <a:spAutoFit/>
            </a:bodyPr>
            <a:lstStyle/>
            <a:p>
              <a:pPr algn="ctr"/>
              <a:r>
                <a:rPr lang="en-US" dirty="0"/>
                <a:t>b</a:t>
              </a:r>
            </a:p>
          </p:txBody>
        </p:sp>
        <p:sp>
          <p:nvSpPr>
            <p:cNvPr id="9" name="TextBox 8"/>
            <p:cNvSpPr txBox="1"/>
            <p:nvPr/>
          </p:nvSpPr>
          <p:spPr>
            <a:xfrm>
              <a:off x="2041070" y="3636611"/>
              <a:ext cx="609601" cy="369332"/>
            </a:xfrm>
            <a:prstGeom prst="rect">
              <a:avLst/>
            </a:prstGeom>
            <a:noFill/>
          </p:spPr>
          <p:txBody>
            <a:bodyPr wrap="square" rtlCol="0">
              <a:spAutoFit/>
            </a:bodyPr>
            <a:lstStyle/>
            <a:p>
              <a:pPr algn="ctr"/>
              <a:r>
                <a:rPr lang="en-US" dirty="0" smtClean="0"/>
                <a:t>c</a:t>
              </a:r>
              <a:endParaRPr lang="en-US" dirty="0"/>
            </a:p>
          </p:txBody>
        </p:sp>
        <p:sp>
          <p:nvSpPr>
            <p:cNvPr id="10" name="TextBox 9"/>
            <p:cNvSpPr txBox="1"/>
            <p:nvPr/>
          </p:nvSpPr>
          <p:spPr>
            <a:xfrm>
              <a:off x="2608760" y="3636611"/>
              <a:ext cx="609601" cy="369332"/>
            </a:xfrm>
            <a:prstGeom prst="rect">
              <a:avLst/>
            </a:prstGeom>
            <a:noFill/>
          </p:spPr>
          <p:txBody>
            <a:bodyPr wrap="square" rtlCol="0">
              <a:spAutoFit/>
            </a:bodyPr>
            <a:lstStyle/>
            <a:p>
              <a:pPr algn="ctr"/>
              <a:r>
                <a:rPr lang="en-US" dirty="0" smtClean="0"/>
                <a:t>d</a:t>
              </a:r>
              <a:endParaRPr lang="en-US" dirty="0"/>
            </a:p>
          </p:txBody>
        </p:sp>
        <p:sp>
          <p:nvSpPr>
            <p:cNvPr id="11" name="TextBox 10"/>
            <p:cNvSpPr txBox="1"/>
            <p:nvPr/>
          </p:nvSpPr>
          <p:spPr>
            <a:xfrm>
              <a:off x="3176451" y="3636611"/>
              <a:ext cx="609601" cy="369332"/>
            </a:xfrm>
            <a:prstGeom prst="rect">
              <a:avLst/>
            </a:prstGeom>
            <a:noFill/>
          </p:spPr>
          <p:txBody>
            <a:bodyPr wrap="square" rtlCol="0">
              <a:spAutoFit/>
            </a:bodyPr>
            <a:lstStyle/>
            <a:p>
              <a:pPr algn="ctr"/>
              <a:r>
                <a:rPr lang="en-US" dirty="0"/>
                <a:t>e</a:t>
              </a:r>
            </a:p>
          </p:txBody>
        </p:sp>
      </p:grpSp>
      <p:grpSp>
        <p:nvGrpSpPr>
          <p:cNvPr id="24" name="Group 23"/>
          <p:cNvGrpSpPr/>
          <p:nvPr/>
        </p:nvGrpSpPr>
        <p:grpSpPr>
          <a:xfrm>
            <a:off x="444136" y="5394960"/>
            <a:ext cx="2960916" cy="391886"/>
            <a:chOff x="1058090" y="3766457"/>
            <a:chExt cx="2960916" cy="391886"/>
          </a:xfrm>
        </p:grpSpPr>
        <p:sp>
          <p:nvSpPr>
            <p:cNvPr id="18" name="Rectangle 17"/>
            <p:cNvSpPr/>
            <p:nvPr/>
          </p:nvSpPr>
          <p:spPr>
            <a:xfrm>
              <a:off x="1058091" y="3766457"/>
              <a:ext cx="2960915" cy="39188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9" name="TextBox 18"/>
            <p:cNvSpPr txBox="1"/>
            <p:nvPr/>
          </p:nvSpPr>
          <p:spPr>
            <a:xfrm>
              <a:off x="1058090" y="3789011"/>
              <a:ext cx="609601" cy="369332"/>
            </a:xfrm>
            <a:prstGeom prst="rect">
              <a:avLst/>
            </a:prstGeom>
            <a:noFill/>
          </p:spPr>
          <p:txBody>
            <a:bodyPr wrap="square" rtlCol="0">
              <a:spAutoFit/>
            </a:bodyPr>
            <a:lstStyle/>
            <a:p>
              <a:pPr algn="ctr"/>
              <a:r>
                <a:rPr lang="en-US" dirty="0" smtClean="0"/>
                <a:t>a</a:t>
              </a:r>
              <a:endParaRPr lang="en-US" dirty="0"/>
            </a:p>
          </p:txBody>
        </p:sp>
        <p:sp>
          <p:nvSpPr>
            <p:cNvPr id="20" name="TextBox 19"/>
            <p:cNvSpPr txBox="1"/>
            <p:nvPr/>
          </p:nvSpPr>
          <p:spPr>
            <a:xfrm>
              <a:off x="1625780" y="3789011"/>
              <a:ext cx="609601" cy="369332"/>
            </a:xfrm>
            <a:prstGeom prst="rect">
              <a:avLst/>
            </a:prstGeom>
            <a:noFill/>
          </p:spPr>
          <p:txBody>
            <a:bodyPr wrap="square" rtlCol="0">
              <a:spAutoFit/>
            </a:bodyPr>
            <a:lstStyle/>
            <a:p>
              <a:pPr algn="ctr"/>
              <a:r>
                <a:rPr lang="en-US" dirty="0"/>
                <a:t>b</a:t>
              </a:r>
            </a:p>
          </p:txBody>
        </p:sp>
        <p:sp>
          <p:nvSpPr>
            <p:cNvPr id="21" name="TextBox 20"/>
            <p:cNvSpPr txBox="1"/>
            <p:nvPr/>
          </p:nvSpPr>
          <p:spPr>
            <a:xfrm>
              <a:off x="2193470" y="3789011"/>
              <a:ext cx="609601" cy="369332"/>
            </a:xfrm>
            <a:prstGeom prst="rect">
              <a:avLst/>
            </a:prstGeom>
            <a:noFill/>
          </p:spPr>
          <p:txBody>
            <a:bodyPr wrap="square" rtlCol="0">
              <a:spAutoFit/>
            </a:bodyPr>
            <a:lstStyle/>
            <a:p>
              <a:pPr algn="ctr"/>
              <a:r>
                <a:rPr lang="en-US" dirty="0" smtClean="0"/>
                <a:t>c</a:t>
              </a:r>
              <a:endParaRPr lang="en-US" dirty="0"/>
            </a:p>
          </p:txBody>
        </p:sp>
        <p:sp>
          <p:nvSpPr>
            <p:cNvPr id="22" name="TextBox 21"/>
            <p:cNvSpPr txBox="1"/>
            <p:nvPr/>
          </p:nvSpPr>
          <p:spPr>
            <a:xfrm>
              <a:off x="2761160" y="3789011"/>
              <a:ext cx="609601" cy="369332"/>
            </a:xfrm>
            <a:prstGeom prst="rect">
              <a:avLst/>
            </a:prstGeom>
            <a:noFill/>
          </p:spPr>
          <p:txBody>
            <a:bodyPr wrap="square" rtlCol="0">
              <a:spAutoFit/>
            </a:bodyPr>
            <a:lstStyle/>
            <a:p>
              <a:pPr algn="ctr"/>
              <a:r>
                <a:rPr lang="en-US" dirty="0" smtClean="0"/>
                <a:t>d</a:t>
              </a:r>
              <a:endParaRPr lang="en-US" dirty="0"/>
            </a:p>
          </p:txBody>
        </p:sp>
        <p:sp>
          <p:nvSpPr>
            <p:cNvPr id="23" name="TextBox 22"/>
            <p:cNvSpPr txBox="1"/>
            <p:nvPr/>
          </p:nvSpPr>
          <p:spPr>
            <a:xfrm>
              <a:off x="3328851" y="3789011"/>
              <a:ext cx="609601" cy="369332"/>
            </a:xfrm>
            <a:prstGeom prst="rect">
              <a:avLst/>
            </a:prstGeom>
            <a:noFill/>
          </p:spPr>
          <p:txBody>
            <a:bodyPr wrap="square" rtlCol="0">
              <a:spAutoFit/>
            </a:bodyPr>
            <a:lstStyle/>
            <a:p>
              <a:pPr algn="ctr"/>
              <a:r>
                <a:rPr lang="en-US" dirty="0"/>
                <a:t>e</a:t>
              </a:r>
            </a:p>
          </p:txBody>
        </p:sp>
      </p:grpSp>
      <p:sp>
        <p:nvSpPr>
          <p:cNvPr id="26" name="Rectangle 25"/>
          <p:cNvSpPr/>
          <p:nvPr/>
        </p:nvSpPr>
        <p:spPr>
          <a:xfrm>
            <a:off x="3762102" y="4615544"/>
            <a:ext cx="2386149" cy="3918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Flink</a:t>
            </a:r>
            <a:r>
              <a:rPr lang="en-US" dirty="0" smtClean="0"/>
              <a:t> Kafka Consumer</a:t>
            </a:r>
            <a:endParaRPr lang="en-US" dirty="0"/>
          </a:p>
        </p:txBody>
      </p:sp>
      <p:sp>
        <p:nvSpPr>
          <p:cNvPr id="27" name="Rectangle 26"/>
          <p:cNvSpPr/>
          <p:nvPr/>
        </p:nvSpPr>
        <p:spPr>
          <a:xfrm>
            <a:off x="3762102" y="5394960"/>
            <a:ext cx="2386149" cy="3918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Flink</a:t>
            </a:r>
            <a:r>
              <a:rPr lang="en-US" dirty="0" smtClean="0"/>
              <a:t> Kafka Consumer</a:t>
            </a:r>
            <a:endParaRPr lang="en-US" dirty="0"/>
          </a:p>
        </p:txBody>
      </p:sp>
      <p:sp>
        <p:nvSpPr>
          <p:cNvPr id="28" name="Rectangle 27"/>
          <p:cNvSpPr/>
          <p:nvPr/>
        </p:nvSpPr>
        <p:spPr>
          <a:xfrm>
            <a:off x="6737166" y="5007429"/>
            <a:ext cx="2386149" cy="3918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Flink</a:t>
            </a:r>
            <a:r>
              <a:rPr lang="en-US" dirty="0" smtClean="0"/>
              <a:t> Map Operator</a:t>
            </a:r>
            <a:endParaRPr lang="en-US" dirty="0"/>
          </a:p>
        </p:txBody>
      </p:sp>
      <p:cxnSp>
        <p:nvCxnSpPr>
          <p:cNvPr id="30" name="Straight Arrow Connector 29"/>
          <p:cNvCxnSpPr>
            <a:stCxn id="5" idx="3"/>
            <a:endCxn id="26" idx="1"/>
          </p:cNvCxnSpPr>
          <p:nvPr/>
        </p:nvCxnSpPr>
        <p:spPr>
          <a:xfrm>
            <a:off x="3405052" y="4811486"/>
            <a:ext cx="35705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18" idx="3"/>
            <a:endCxn id="27" idx="1"/>
          </p:cNvCxnSpPr>
          <p:nvPr/>
        </p:nvCxnSpPr>
        <p:spPr>
          <a:xfrm>
            <a:off x="3405052" y="5590903"/>
            <a:ext cx="3570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26" idx="3"/>
            <a:endCxn id="28" idx="1"/>
          </p:cNvCxnSpPr>
          <p:nvPr/>
        </p:nvCxnSpPr>
        <p:spPr>
          <a:xfrm>
            <a:off x="6148251" y="4811487"/>
            <a:ext cx="588915" cy="3918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27" idx="3"/>
            <a:endCxn id="28" idx="1"/>
          </p:cNvCxnSpPr>
          <p:nvPr/>
        </p:nvCxnSpPr>
        <p:spPr>
          <a:xfrm flipV="1">
            <a:off x="6148251" y="5203372"/>
            <a:ext cx="588915" cy="3875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TextBox 38"/>
          <p:cNvSpPr txBox="1"/>
          <p:nvPr/>
        </p:nvSpPr>
        <p:spPr>
          <a:xfrm>
            <a:off x="4193176" y="4150418"/>
            <a:ext cx="609601" cy="369332"/>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dirty="0" smtClean="0"/>
              <a:t>a</a:t>
            </a:r>
            <a:endParaRPr lang="en-US" dirty="0"/>
          </a:p>
        </p:txBody>
      </p:sp>
      <p:sp>
        <p:nvSpPr>
          <p:cNvPr id="40" name="TextBox 39"/>
          <p:cNvSpPr txBox="1"/>
          <p:nvPr/>
        </p:nvSpPr>
        <p:spPr>
          <a:xfrm>
            <a:off x="7037611" y="3304596"/>
            <a:ext cx="1785257" cy="369332"/>
          </a:xfrm>
          <a:prstGeom prst="rect">
            <a:avLst/>
          </a:prstGeom>
          <a:noFill/>
        </p:spPr>
        <p:txBody>
          <a:bodyPr wrap="square" rtlCol="0">
            <a:spAutoFit/>
          </a:bodyPr>
          <a:lstStyle/>
          <a:p>
            <a:r>
              <a:rPr lang="en-US" dirty="0" smtClean="0"/>
              <a:t>counter = 0</a:t>
            </a:r>
          </a:p>
        </p:txBody>
      </p:sp>
      <p:cxnSp>
        <p:nvCxnSpPr>
          <p:cNvPr id="43" name="Straight Connector 42"/>
          <p:cNvCxnSpPr/>
          <p:nvPr/>
        </p:nvCxnSpPr>
        <p:spPr>
          <a:xfrm>
            <a:off x="1011826" y="4469675"/>
            <a:ext cx="0" cy="683622"/>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44" name="Straight Connector 43"/>
          <p:cNvCxnSpPr/>
          <p:nvPr/>
        </p:nvCxnSpPr>
        <p:spPr>
          <a:xfrm>
            <a:off x="576943" y="5249092"/>
            <a:ext cx="0" cy="683622"/>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31" name="Rectangle 30"/>
          <p:cNvSpPr/>
          <p:nvPr/>
        </p:nvSpPr>
        <p:spPr>
          <a:xfrm>
            <a:off x="386442" y="772887"/>
            <a:ext cx="2328456" cy="12409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b="1" u="sng" dirty="0" smtClean="0"/>
              <a:t>Zookeeper</a:t>
            </a:r>
          </a:p>
          <a:p>
            <a:r>
              <a:rPr lang="en-US" dirty="0" smtClean="0"/>
              <a:t>offset partition 0: 0</a:t>
            </a:r>
          </a:p>
          <a:p>
            <a:r>
              <a:rPr lang="en-US" dirty="0" smtClean="0"/>
              <a:t>offset partition 1: 0</a:t>
            </a:r>
            <a:endParaRPr lang="en-US" dirty="0"/>
          </a:p>
        </p:txBody>
      </p:sp>
      <p:sp>
        <p:nvSpPr>
          <p:cNvPr id="2" name="Rectangle 1"/>
          <p:cNvSpPr/>
          <p:nvPr/>
        </p:nvSpPr>
        <p:spPr>
          <a:xfrm>
            <a:off x="3324498" y="772887"/>
            <a:ext cx="4295502" cy="17634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b="1" u="sng" dirty="0" err="1" smtClean="0"/>
              <a:t>Flink</a:t>
            </a:r>
            <a:r>
              <a:rPr lang="en-US" b="1" u="sng" dirty="0" smtClean="0"/>
              <a:t> Checkpoint Coordinator</a:t>
            </a:r>
          </a:p>
          <a:p>
            <a:r>
              <a:rPr lang="en-US" dirty="0" smtClean="0"/>
              <a:t>Pending:</a:t>
            </a:r>
          </a:p>
          <a:p>
            <a:r>
              <a:rPr lang="en-US" dirty="0" smtClean="0"/>
              <a:t>Completed: </a:t>
            </a:r>
            <a:endParaRPr lang="en-US" dirty="0"/>
          </a:p>
        </p:txBody>
      </p:sp>
      <p:sp>
        <p:nvSpPr>
          <p:cNvPr id="33" name="TextBox 32"/>
          <p:cNvSpPr txBox="1"/>
          <p:nvPr/>
        </p:nvSpPr>
        <p:spPr>
          <a:xfrm>
            <a:off x="3686992" y="3304596"/>
            <a:ext cx="1785257" cy="369332"/>
          </a:xfrm>
          <a:prstGeom prst="rect">
            <a:avLst/>
          </a:prstGeom>
          <a:noFill/>
        </p:spPr>
        <p:txBody>
          <a:bodyPr wrap="square" rtlCol="0">
            <a:spAutoFit/>
          </a:bodyPr>
          <a:lstStyle/>
          <a:p>
            <a:r>
              <a:rPr lang="en-US" dirty="0" smtClean="0"/>
              <a:t>offsets = 1, 0</a:t>
            </a:r>
          </a:p>
        </p:txBody>
      </p:sp>
      <p:sp>
        <p:nvSpPr>
          <p:cNvPr id="35" name="TextBox 34"/>
          <p:cNvSpPr txBox="1"/>
          <p:nvPr/>
        </p:nvSpPr>
        <p:spPr>
          <a:xfrm>
            <a:off x="444136" y="6143625"/>
            <a:ext cx="10833464" cy="646331"/>
          </a:xfrm>
          <a:prstGeom prst="rect">
            <a:avLst/>
          </a:prstGeom>
          <a:noFill/>
        </p:spPr>
        <p:txBody>
          <a:bodyPr wrap="square" rtlCol="0">
            <a:spAutoFit/>
          </a:bodyPr>
          <a:lstStyle/>
          <a:p>
            <a:r>
              <a:rPr lang="en-US" dirty="0" smtClean="0"/>
              <a:t>The Kafka consumer starts reading messages from partition 0. Message “a” is in-flight, the offset for the first consumer has been set to 1.</a:t>
            </a:r>
            <a:endParaRPr lang="en-US" dirty="0"/>
          </a:p>
        </p:txBody>
      </p:sp>
    </p:spTree>
    <p:extLst>
      <p:ext uri="{BB962C8B-B14F-4D97-AF65-F5344CB8AC3E}">
        <p14:creationId xmlns:p14="http://schemas.microsoft.com/office/powerpoint/2010/main" val="79466530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p:cNvGrpSpPr/>
          <p:nvPr/>
        </p:nvGrpSpPr>
        <p:grpSpPr>
          <a:xfrm>
            <a:off x="444136" y="4615543"/>
            <a:ext cx="2960916" cy="391886"/>
            <a:chOff x="905690" y="3614057"/>
            <a:chExt cx="2960916" cy="391886"/>
          </a:xfrm>
        </p:grpSpPr>
        <p:sp>
          <p:nvSpPr>
            <p:cNvPr id="5" name="Rectangle 4"/>
            <p:cNvSpPr/>
            <p:nvPr/>
          </p:nvSpPr>
          <p:spPr>
            <a:xfrm>
              <a:off x="905691" y="3614057"/>
              <a:ext cx="2960915" cy="39188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7" name="TextBox 6"/>
            <p:cNvSpPr txBox="1"/>
            <p:nvPr/>
          </p:nvSpPr>
          <p:spPr>
            <a:xfrm>
              <a:off x="905690" y="3636611"/>
              <a:ext cx="609601" cy="369332"/>
            </a:xfrm>
            <a:prstGeom prst="rect">
              <a:avLst/>
            </a:prstGeom>
            <a:noFill/>
          </p:spPr>
          <p:txBody>
            <a:bodyPr wrap="square" rtlCol="0">
              <a:spAutoFit/>
            </a:bodyPr>
            <a:lstStyle/>
            <a:p>
              <a:pPr algn="ctr"/>
              <a:r>
                <a:rPr lang="en-US" dirty="0" smtClean="0"/>
                <a:t>a</a:t>
              </a:r>
              <a:endParaRPr lang="en-US" dirty="0"/>
            </a:p>
          </p:txBody>
        </p:sp>
        <p:sp>
          <p:nvSpPr>
            <p:cNvPr id="8" name="TextBox 7"/>
            <p:cNvSpPr txBox="1"/>
            <p:nvPr/>
          </p:nvSpPr>
          <p:spPr>
            <a:xfrm>
              <a:off x="1473380" y="3636611"/>
              <a:ext cx="609601" cy="369332"/>
            </a:xfrm>
            <a:prstGeom prst="rect">
              <a:avLst/>
            </a:prstGeom>
            <a:noFill/>
          </p:spPr>
          <p:txBody>
            <a:bodyPr wrap="square" rtlCol="0">
              <a:spAutoFit/>
            </a:bodyPr>
            <a:lstStyle/>
            <a:p>
              <a:pPr algn="ctr"/>
              <a:r>
                <a:rPr lang="en-US" dirty="0"/>
                <a:t>b</a:t>
              </a:r>
            </a:p>
          </p:txBody>
        </p:sp>
        <p:sp>
          <p:nvSpPr>
            <p:cNvPr id="9" name="TextBox 8"/>
            <p:cNvSpPr txBox="1"/>
            <p:nvPr/>
          </p:nvSpPr>
          <p:spPr>
            <a:xfrm>
              <a:off x="2041070" y="3636611"/>
              <a:ext cx="609601" cy="369332"/>
            </a:xfrm>
            <a:prstGeom prst="rect">
              <a:avLst/>
            </a:prstGeom>
            <a:noFill/>
          </p:spPr>
          <p:txBody>
            <a:bodyPr wrap="square" rtlCol="0">
              <a:spAutoFit/>
            </a:bodyPr>
            <a:lstStyle/>
            <a:p>
              <a:pPr algn="ctr"/>
              <a:r>
                <a:rPr lang="en-US" dirty="0" smtClean="0"/>
                <a:t>c</a:t>
              </a:r>
              <a:endParaRPr lang="en-US" dirty="0"/>
            </a:p>
          </p:txBody>
        </p:sp>
        <p:sp>
          <p:nvSpPr>
            <p:cNvPr id="10" name="TextBox 9"/>
            <p:cNvSpPr txBox="1"/>
            <p:nvPr/>
          </p:nvSpPr>
          <p:spPr>
            <a:xfrm>
              <a:off x="2608760" y="3636611"/>
              <a:ext cx="609601" cy="369332"/>
            </a:xfrm>
            <a:prstGeom prst="rect">
              <a:avLst/>
            </a:prstGeom>
            <a:noFill/>
          </p:spPr>
          <p:txBody>
            <a:bodyPr wrap="square" rtlCol="0">
              <a:spAutoFit/>
            </a:bodyPr>
            <a:lstStyle/>
            <a:p>
              <a:pPr algn="ctr"/>
              <a:r>
                <a:rPr lang="en-US" dirty="0" smtClean="0"/>
                <a:t>d</a:t>
              </a:r>
              <a:endParaRPr lang="en-US" dirty="0"/>
            </a:p>
          </p:txBody>
        </p:sp>
        <p:sp>
          <p:nvSpPr>
            <p:cNvPr id="11" name="TextBox 10"/>
            <p:cNvSpPr txBox="1"/>
            <p:nvPr/>
          </p:nvSpPr>
          <p:spPr>
            <a:xfrm>
              <a:off x="3176451" y="3636611"/>
              <a:ext cx="609601" cy="369332"/>
            </a:xfrm>
            <a:prstGeom prst="rect">
              <a:avLst/>
            </a:prstGeom>
            <a:noFill/>
          </p:spPr>
          <p:txBody>
            <a:bodyPr wrap="square" rtlCol="0">
              <a:spAutoFit/>
            </a:bodyPr>
            <a:lstStyle/>
            <a:p>
              <a:pPr algn="ctr"/>
              <a:r>
                <a:rPr lang="en-US" dirty="0"/>
                <a:t>e</a:t>
              </a:r>
            </a:p>
          </p:txBody>
        </p:sp>
      </p:grpSp>
      <p:grpSp>
        <p:nvGrpSpPr>
          <p:cNvPr id="24" name="Group 23"/>
          <p:cNvGrpSpPr/>
          <p:nvPr/>
        </p:nvGrpSpPr>
        <p:grpSpPr>
          <a:xfrm>
            <a:off x="444136" y="5394960"/>
            <a:ext cx="2960916" cy="391886"/>
            <a:chOff x="1058090" y="3766457"/>
            <a:chExt cx="2960916" cy="391886"/>
          </a:xfrm>
        </p:grpSpPr>
        <p:sp>
          <p:nvSpPr>
            <p:cNvPr id="18" name="Rectangle 17"/>
            <p:cNvSpPr/>
            <p:nvPr/>
          </p:nvSpPr>
          <p:spPr>
            <a:xfrm>
              <a:off x="1058091" y="3766457"/>
              <a:ext cx="2960915" cy="39188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9" name="TextBox 18"/>
            <p:cNvSpPr txBox="1"/>
            <p:nvPr/>
          </p:nvSpPr>
          <p:spPr>
            <a:xfrm>
              <a:off x="1058090" y="3789011"/>
              <a:ext cx="609601" cy="369332"/>
            </a:xfrm>
            <a:prstGeom prst="rect">
              <a:avLst/>
            </a:prstGeom>
            <a:noFill/>
          </p:spPr>
          <p:txBody>
            <a:bodyPr wrap="square" rtlCol="0">
              <a:spAutoFit/>
            </a:bodyPr>
            <a:lstStyle/>
            <a:p>
              <a:pPr algn="ctr"/>
              <a:r>
                <a:rPr lang="en-US" dirty="0" smtClean="0"/>
                <a:t>a</a:t>
              </a:r>
              <a:endParaRPr lang="en-US" dirty="0"/>
            </a:p>
          </p:txBody>
        </p:sp>
        <p:sp>
          <p:nvSpPr>
            <p:cNvPr id="20" name="TextBox 19"/>
            <p:cNvSpPr txBox="1"/>
            <p:nvPr/>
          </p:nvSpPr>
          <p:spPr>
            <a:xfrm>
              <a:off x="1625780" y="3789011"/>
              <a:ext cx="609601" cy="369332"/>
            </a:xfrm>
            <a:prstGeom prst="rect">
              <a:avLst/>
            </a:prstGeom>
            <a:noFill/>
          </p:spPr>
          <p:txBody>
            <a:bodyPr wrap="square" rtlCol="0">
              <a:spAutoFit/>
            </a:bodyPr>
            <a:lstStyle/>
            <a:p>
              <a:pPr algn="ctr"/>
              <a:r>
                <a:rPr lang="en-US" dirty="0"/>
                <a:t>b</a:t>
              </a:r>
            </a:p>
          </p:txBody>
        </p:sp>
        <p:sp>
          <p:nvSpPr>
            <p:cNvPr id="21" name="TextBox 20"/>
            <p:cNvSpPr txBox="1"/>
            <p:nvPr/>
          </p:nvSpPr>
          <p:spPr>
            <a:xfrm>
              <a:off x="2193470" y="3789011"/>
              <a:ext cx="609601" cy="369332"/>
            </a:xfrm>
            <a:prstGeom prst="rect">
              <a:avLst/>
            </a:prstGeom>
            <a:noFill/>
          </p:spPr>
          <p:txBody>
            <a:bodyPr wrap="square" rtlCol="0">
              <a:spAutoFit/>
            </a:bodyPr>
            <a:lstStyle/>
            <a:p>
              <a:pPr algn="ctr"/>
              <a:r>
                <a:rPr lang="en-US" dirty="0" smtClean="0"/>
                <a:t>c</a:t>
              </a:r>
              <a:endParaRPr lang="en-US" dirty="0"/>
            </a:p>
          </p:txBody>
        </p:sp>
        <p:sp>
          <p:nvSpPr>
            <p:cNvPr id="22" name="TextBox 21"/>
            <p:cNvSpPr txBox="1"/>
            <p:nvPr/>
          </p:nvSpPr>
          <p:spPr>
            <a:xfrm>
              <a:off x="2761160" y="3789011"/>
              <a:ext cx="609601" cy="369332"/>
            </a:xfrm>
            <a:prstGeom prst="rect">
              <a:avLst/>
            </a:prstGeom>
            <a:noFill/>
          </p:spPr>
          <p:txBody>
            <a:bodyPr wrap="square" rtlCol="0">
              <a:spAutoFit/>
            </a:bodyPr>
            <a:lstStyle/>
            <a:p>
              <a:pPr algn="ctr"/>
              <a:r>
                <a:rPr lang="en-US" dirty="0" smtClean="0"/>
                <a:t>d</a:t>
              </a:r>
              <a:endParaRPr lang="en-US" dirty="0"/>
            </a:p>
          </p:txBody>
        </p:sp>
        <p:sp>
          <p:nvSpPr>
            <p:cNvPr id="23" name="TextBox 22"/>
            <p:cNvSpPr txBox="1"/>
            <p:nvPr/>
          </p:nvSpPr>
          <p:spPr>
            <a:xfrm>
              <a:off x="3328851" y="3789011"/>
              <a:ext cx="609601" cy="369332"/>
            </a:xfrm>
            <a:prstGeom prst="rect">
              <a:avLst/>
            </a:prstGeom>
            <a:noFill/>
          </p:spPr>
          <p:txBody>
            <a:bodyPr wrap="square" rtlCol="0">
              <a:spAutoFit/>
            </a:bodyPr>
            <a:lstStyle/>
            <a:p>
              <a:pPr algn="ctr"/>
              <a:r>
                <a:rPr lang="en-US" dirty="0"/>
                <a:t>e</a:t>
              </a:r>
            </a:p>
          </p:txBody>
        </p:sp>
      </p:grpSp>
      <p:sp>
        <p:nvSpPr>
          <p:cNvPr id="26" name="Rectangle 25"/>
          <p:cNvSpPr/>
          <p:nvPr/>
        </p:nvSpPr>
        <p:spPr>
          <a:xfrm>
            <a:off x="3762102" y="4615544"/>
            <a:ext cx="2386149" cy="3918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Flink</a:t>
            </a:r>
            <a:r>
              <a:rPr lang="en-US" dirty="0" smtClean="0"/>
              <a:t> Kafka Consumer</a:t>
            </a:r>
            <a:endParaRPr lang="en-US" dirty="0"/>
          </a:p>
        </p:txBody>
      </p:sp>
      <p:sp>
        <p:nvSpPr>
          <p:cNvPr id="27" name="Rectangle 26"/>
          <p:cNvSpPr/>
          <p:nvPr/>
        </p:nvSpPr>
        <p:spPr>
          <a:xfrm>
            <a:off x="3762102" y="5394960"/>
            <a:ext cx="2386149" cy="3918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Flink</a:t>
            </a:r>
            <a:r>
              <a:rPr lang="en-US" dirty="0" smtClean="0"/>
              <a:t> Kafka Consumer</a:t>
            </a:r>
            <a:endParaRPr lang="en-US" dirty="0"/>
          </a:p>
        </p:txBody>
      </p:sp>
      <p:sp>
        <p:nvSpPr>
          <p:cNvPr id="28" name="Rectangle 27"/>
          <p:cNvSpPr/>
          <p:nvPr/>
        </p:nvSpPr>
        <p:spPr>
          <a:xfrm>
            <a:off x="6737166" y="5007429"/>
            <a:ext cx="2386149" cy="3918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Flink</a:t>
            </a:r>
            <a:r>
              <a:rPr lang="en-US" dirty="0" smtClean="0"/>
              <a:t> Map Operator</a:t>
            </a:r>
            <a:endParaRPr lang="en-US" dirty="0"/>
          </a:p>
        </p:txBody>
      </p:sp>
      <p:cxnSp>
        <p:nvCxnSpPr>
          <p:cNvPr id="30" name="Straight Arrow Connector 29"/>
          <p:cNvCxnSpPr>
            <a:stCxn id="5" idx="3"/>
            <a:endCxn id="26" idx="1"/>
          </p:cNvCxnSpPr>
          <p:nvPr/>
        </p:nvCxnSpPr>
        <p:spPr>
          <a:xfrm>
            <a:off x="3405052" y="4811486"/>
            <a:ext cx="35705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18" idx="3"/>
            <a:endCxn id="27" idx="1"/>
          </p:cNvCxnSpPr>
          <p:nvPr/>
        </p:nvCxnSpPr>
        <p:spPr>
          <a:xfrm>
            <a:off x="3405052" y="5590903"/>
            <a:ext cx="3570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26" idx="3"/>
            <a:endCxn id="28" idx="1"/>
          </p:cNvCxnSpPr>
          <p:nvPr/>
        </p:nvCxnSpPr>
        <p:spPr>
          <a:xfrm>
            <a:off x="6148251" y="4811487"/>
            <a:ext cx="588915" cy="3918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27" idx="3"/>
            <a:endCxn id="28" idx="1"/>
          </p:cNvCxnSpPr>
          <p:nvPr/>
        </p:nvCxnSpPr>
        <p:spPr>
          <a:xfrm flipV="1">
            <a:off x="6148251" y="5203372"/>
            <a:ext cx="588915" cy="3875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TextBox 38"/>
          <p:cNvSpPr txBox="1"/>
          <p:nvPr/>
        </p:nvSpPr>
        <p:spPr>
          <a:xfrm>
            <a:off x="7588430" y="4453431"/>
            <a:ext cx="609601" cy="369332"/>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dirty="0" smtClean="0"/>
              <a:t>a</a:t>
            </a:r>
            <a:endParaRPr lang="en-US" dirty="0"/>
          </a:p>
        </p:txBody>
      </p:sp>
      <p:sp>
        <p:nvSpPr>
          <p:cNvPr id="40" name="TextBox 39"/>
          <p:cNvSpPr txBox="1"/>
          <p:nvPr/>
        </p:nvSpPr>
        <p:spPr>
          <a:xfrm>
            <a:off x="7037611" y="3304596"/>
            <a:ext cx="1785257" cy="369332"/>
          </a:xfrm>
          <a:prstGeom prst="rect">
            <a:avLst/>
          </a:prstGeom>
          <a:noFill/>
        </p:spPr>
        <p:txBody>
          <a:bodyPr wrap="square" rtlCol="0">
            <a:spAutoFit/>
          </a:bodyPr>
          <a:lstStyle/>
          <a:p>
            <a:r>
              <a:rPr lang="en-US" dirty="0" smtClean="0"/>
              <a:t>counter = </a:t>
            </a:r>
            <a:r>
              <a:rPr lang="en-US" dirty="0" smtClean="0"/>
              <a:t>1</a:t>
            </a:r>
            <a:endParaRPr lang="en-US" dirty="0" smtClean="0"/>
          </a:p>
        </p:txBody>
      </p:sp>
      <p:cxnSp>
        <p:nvCxnSpPr>
          <p:cNvPr id="43" name="Straight Connector 42"/>
          <p:cNvCxnSpPr/>
          <p:nvPr/>
        </p:nvCxnSpPr>
        <p:spPr>
          <a:xfrm>
            <a:off x="1550670" y="4480952"/>
            <a:ext cx="0" cy="683622"/>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44" name="Straight Connector 43"/>
          <p:cNvCxnSpPr/>
          <p:nvPr/>
        </p:nvCxnSpPr>
        <p:spPr>
          <a:xfrm>
            <a:off x="1011826" y="5249092"/>
            <a:ext cx="0" cy="683622"/>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31" name="Rectangle 30"/>
          <p:cNvSpPr/>
          <p:nvPr/>
        </p:nvSpPr>
        <p:spPr>
          <a:xfrm>
            <a:off x="386442" y="772887"/>
            <a:ext cx="2328456" cy="12409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b="1" u="sng" dirty="0" smtClean="0"/>
              <a:t>Zookeeper</a:t>
            </a:r>
          </a:p>
          <a:p>
            <a:r>
              <a:rPr lang="en-US" dirty="0" smtClean="0"/>
              <a:t>offset partition 0: 0</a:t>
            </a:r>
          </a:p>
          <a:p>
            <a:r>
              <a:rPr lang="en-US" dirty="0" smtClean="0"/>
              <a:t>offset partition 1: 0</a:t>
            </a:r>
            <a:endParaRPr lang="en-US" dirty="0"/>
          </a:p>
        </p:txBody>
      </p:sp>
      <p:sp>
        <p:nvSpPr>
          <p:cNvPr id="2" name="Rectangle 1"/>
          <p:cNvSpPr/>
          <p:nvPr/>
        </p:nvSpPr>
        <p:spPr>
          <a:xfrm>
            <a:off x="3324498" y="772887"/>
            <a:ext cx="4295502" cy="17634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b="1" u="sng" dirty="0" err="1" smtClean="0"/>
              <a:t>Flink</a:t>
            </a:r>
            <a:r>
              <a:rPr lang="en-US" b="1" u="sng" dirty="0" smtClean="0"/>
              <a:t> Checkpoint Coordinator</a:t>
            </a:r>
          </a:p>
          <a:p>
            <a:r>
              <a:rPr lang="en-US" dirty="0" smtClean="0"/>
              <a:t>Pending:</a:t>
            </a:r>
          </a:p>
          <a:p>
            <a:r>
              <a:rPr lang="en-US" dirty="0" smtClean="0"/>
              <a:t>Completed: </a:t>
            </a:r>
            <a:endParaRPr lang="en-US" dirty="0"/>
          </a:p>
        </p:txBody>
      </p:sp>
      <p:sp>
        <p:nvSpPr>
          <p:cNvPr id="33" name="TextBox 32"/>
          <p:cNvSpPr txBox="1"/>
          <p:nvPr/>
        </p:nvSpPr>
        <p:spPr>
          <a:xfrm>
            <a:off x="3686992" y="3304596"/>
            <a:ext cx="1785257" cy="369332"/>
          </a:xfrm>
          <a:prstGeom prst="rect">
            <a:avLst/>
          </a:prstGeom>
          <a:noFill/>
        </p:spPr>
        <p:txBody>
          <a:bodyPr wrap="square" rtlCol="0">
            <a:spAutoFit/>
          </a:bodyPr>
          <a:lstStyle/>
          <a:p>
            <a:r>
              <a:rPr lang="en-US" dirty="0" smtClean="0"/>
              <a:t>offsets = </a:t>
            </a:r>
            <a:r>
              <a:rPr lang="en-US" dirty="0" smtClean="0"/>
              <a:t>2, 1</a:t>
            </a:r>
            <a:endParaRPr lang="en-US" dirty="0" smtClean="0"/>
          </a:p>
        </p:txBody>
      </p:sp>
      <p:sp>
        <p:nvSpPr>
          <p:cNvPr id="35" name="TextBox 34"/>
          <p:cNvSpPr txBox="1"/>
          <p:nvPr/>
        </p:nvSpPr>
        <p:spPr>
          <a:xfrm>
            <a:off x="4345575" y="5978434"/>
            <a:ext cx="609601" cy="369332"/>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dirty="0" smtClean="0"/>
              <a:t>a</a:t>
            </a:r>
            <a:endParaRPr lang="en-US" dirty="0"/>
          </a:p>
        </p:txBody>
      </p:sp>
      <p:sp>
        <p:nvSpPr>
          <p:cNvPr id="36" name="TextBox 35"/>
          <p:cNvSpPr txBox="1"/>
          <p:nvPr/>
        </p:nvSpPr>
        <p:spPr>
          <a:xfrm>
            <a:off x="4345575" y="4097774"/>
            <a:ext cx="609601" cy="369332"/>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dirty="0" smtClean="0"/>
              <a:t>b</a:t>
            </a:r>
            <a:endParaRPr lang="en-US" dirty="0"/>
          </a:p>
        </p:txBody>
      </p:sp>
      <p:sp>
        <p:nvSpPr>
          <p:cNvPr id="3" name="Cloud Callout 2"/>
          <p:cNvSpPr/>
          <p:nvPr/>
        </p:nvSpPr>
        <p:spPr>
          <a:xfrm>
            <a:off x="5440679" y="1716462"/>
            <a:ext cx="2423161" cy="1434493"/>
          </a:xfrm>
          <a:prstGeom prst="cloudCallou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smtClean="0"/>
              <a:t>Trigger Checkpoint at </a:t>
            </a:r>
          </a:p>
          <a:p>
            <a:pPr algn="ctr"/>
            <a:r>
              <a:rPr lang="en-US" dirty="0" smtClean="0"/>
              <a:t>source</a:t>
            </a:r>
            <a:endParaRPr lang="en-US" dirty="0"/>
          </a:p>
        </p:txBody>
      </p:sp>
      <p:sp>
        <p:nvSpPr>
          <p:cNvPr id="37" name="TextBox 36"/>
          <p:cNvSpPr txBox="1"/>
          <p:nvPr/>
        </p:nvSpPr>
        <p:spPr>
          <a:xfrm>
            <a:off x="444136" y="6143625"/>
            <a:ext cx="10833464" cy="646331"/>
          </a:xfrm>
          <a:prstGeom prst="rect">
            <a:avLst/>
          </a:prstGeom>
          <a:noFill/>
        </p:spPr>
        <p:txBody>
          <a:bodyPr wrap="square" rtlCol="0">
            <a:spAutoFit/>
          </a:bodyPr>
          <a:lstStyle/>
          <a:p>
            <a:r>
              <a:rPr lang="en-US" dirty="0" smtClean="0"/>
              <a:t>Message “a” arrives at the counter, it is set to 1. The consumers both read the next records (“b” and “a”). The offsets are set accordingly. In parallel, the checkpoint coordinator decides to trigger a checkpoint at the source …</a:t>
            </a:r>
            <a:endParaRPr lang="en-US" dirty="0"/>
          </a:p>
        </p:txBody>
      </p:sp>
    </p:spTree>
    <p:extLst>
      <p:ext uri="{BB962C8B-B14F-4D97-AF65-F5344CB8AC3E}">
        <p14:creationId xmlns:p14="http://schemas.microsoft.com/office/powerpoint/2010/main" val="410213385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p:cNvGrpSpPr/>
          <p:nvPr/>
        </p:nvGrpSpPr>
        <p:grpSpPr>
          <a:xfrm>
            <a:off x="444136" y="4615543"/>
            <a:ext cx="2960916" cy="391886"/>
            <a:chOff x="905690" y="3614057"/>
            <a:chExt cx="2960916" cy="391886"/>
          </a:xfrm>
        </p:grpSpPr>
        <p:sp>
          <p:nvSpPr>
            <p:cNvPr id="5" name="Rectangle 4"/>
            <p:cNvSpPr/>
            <p:nvPr/>
          </p:nvSpPr>
          <p:spPr>
            <a:xfrm>
              <a:off x="905691" y="3614057"/>
              <a:ext cx="2960915" cy="39188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7" name="TextBox 6"/>
            <p:cNvSpPr txBox="1"/>
            <p:nvPr/>
          </p:nvSpPr>
          <p:spPr>
            <a:xfrm>
              <a:off x="905690" y="3636611"/>
              <a:ext cx="609601" cy="369332"/>
            </a:xfrm>
            <a:prstGeom prst="rect">
              <a:avLst/>
            </a:prstGeom>
            <a:noFill/>
          </p:spPr>
          <p:txBody>
            <a:bodyPr wrap="square" rtlCol="0">
              <a:spAutoFit/>
            </a:bodyPr>
            <a:lstStyle/>
            <a:p>
              <a:pPr algn="ctr"/>
              <a:r>
                <a:rPr lang="en-US" dirty="0" smtClean="0"/>
                <a:t>a</a:t>
              </a:r>
              <a:endParaRPr lang="en-US" dirty="0"/>
            </a:p>
          </p:txBody>
        </p:sp>
        <p:sp>
          <p:nvSpPr>
            <p:cNvPr id="8" name="TextBox 7"/>
            <p:cNvSpPr txBox="1"/>
            <p:nvPr/>
          </p:nvSpPr>
          <p:spPr>
            <a:xfrm>
              <a:off x="1473380" y="3636611"/>
              <a:ext cx="609601" cy="369332"/>
            </a:xfrm>
            <a:prstGeom prst="rect">
              <a:avLst/>
            </a:prstGeom>
            <a:noFill/>
          </p:spPr>
          <p:txBody>
            <a:bodyPr wrap="square" rtlCol="0">
              <a:spAutoFit/>
            </a:bodyPr>
            <a:lstStyle/>
            <a:p>
              <a:pPr algn="ctr"/>
              <a:r>
                <a:rPr lang="en-US" dirty="0"/>
                <a:t>b</a:t>
              </a:r>
            </a:p>
          </p:txBody>
        </p:sp>
        <p:sp>
          <p:nvSpPr>
            <p:cNvPr id="9" name="TextBox 8"/>
            <p:cNvSpPr txBox="1"/>
            <p:nvPr/>
          </p:nvSpPr>
          <p:spPr>
            <a:xfrm>
              <a:off x="2041070" y="3636611"/>
              <a:ext cx="609601" cy="369332"/>
            </a:xfrm>
            <a:prstGeom prst="rect">
              <a:avLst/>
            </a:prstGeom>
            <a:noFill/>
          </p:spPr>
          <p:txBody>
            <a:bodyPr wrap="square" rtlCol="0">
              <a:spAutoFit/>
            </a:bodyPr>
            <a:lstStyle/>
            <a:p>
              <a:pPr algn="ctr"/>
              <a:r>
                <a:rPr lang="en-US" dirty="0" smtClean="0"/>
                <a:t>c</a:t>
              </a:r>
              <a:endParaRPr lang="en-US" dirty="0"/>
            </a:p>
          </p:txBody>
        </p:sp>
        <p:sp>
          <p:nvSpPr>
            <p:cNvPr id="10" name="TextBox 9"/>
            <p:cNvSpPr txBox="1"/>
            <p:nvPr/>
          </p:nvSpPr>
          <p:spPr>
            <a:xfrm>
              <a:off x="2608760" y="3636611"/>
              <a:ext cx="609601" cy="369332"/>
            </a:xfrm>
            <a:prstGeom prst="rect">
              <a:avLst/>
            </a:prstGeom>
            <a:noFill/>
          </p:spPr>
          <p:txBody>
            <a:bodyPr wrap="square" rtlCol="0">
              <a:spAutoFit/>
            </a:bodyPr>
            <a:lstStyle/>
            <a:p>
              <a:pPr algn="ctr"/>
              <a:r>
                <a:rPr lang="en-US" dirty="0" smtClean="0"/>
                <a:t>d</a:t>
              </a:r>
              <a:endParaRPr lang="en-US" dirty="0"/>
            </a:p>
          </p:txBody>
        </p:sp>
        <p:sp>
          <p:nvSpPr>
            <p:cNvPr id="11" name="TextBox 10"/>
            <p:cNvSpPr txBox="1"/>
            <p:nvPr/>
          </p:nvSpPr>
          <p:spPr>
            <a:xfrm>
              <a:off x="3176451" y="3636611"/>
              <a:ext cx="609601" cy="369332"/>
            </a:xfrm>
            <a:prstGeom prst="rect">
              <a:avLst/>
            </a:prstGeom>
            <a:noFill/>
          </p:spPr>
          <p:txBody>
            <a:bodyPr wrap="square" rtlCol="0">
              <a:spAutoFit/>
            </a:bodyPr>
            <a:lstStyle/>
            <a:p>
              <a:pPr algn="ctr"/>
              <a:r>
                <a:rPr lang="en-US" dirty="0"/>
                <a:t>e</a:t>
              </a:r>
            </a:p>
          </p:txBody>
        </p:sp>
      </p:grpSp>
      <p:grpSp>
        <p:nvGrpSpPr>
          <p:cNvPr id="24" name="Group 23"/>
          <p:cNvGrpSpPr/>
          <p:nvPr/>
        </p:nvGrpSpPr>
        <p:grpSpPr>
          <a:xfrm>
            <a:off x="444136" y="5394960"/>
            <a:ext cx="2960916" cy="391886"/>
            <a:chOff x="1058090" y="3766457"/>
            <a:chExt cx="2960916" cy="391886"/>
          </a:xfrm>
        </p:grpSpPr>
        <p:sp>
          <p:nvSpPr>
            <p:cNvPr id="18" name="Rectangle 17"/>
            <p:cNvSpPr/>
            <p:nvPr/>
          </p:nvSpPr>
          <p:spPr>
            <a:xfrm>
              <a:off x="1058091" y="3766457"/>
              <a:ext cx="2960915" cy="39188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9" name="TextBox 18"/>
            <p:cNvSpPr txBox="1"/>
            <p:nvPr/>
          </p:nvSpPr>
          <p:spPr>
            <a:xfrm>
              <a:off x="1058090" y="3789011"/>
              <a:ext cx="609601" cy="369332"/>
            </a:xfrm>
            <a:prstGeom prst="rect">
              <a:avLst/>
            </a:prstGeom>
            <a:noFill/>
          </p:spPr>
          <p:txBody>
            <a:bodyPr wrap="square" rtlCol="0">
              <a:spAutoFit/>
            </a:bodyPr>
            <a:lstStyle/>
            <a:p>
              <a:pPr algn="ctr"/>
              <a:r>
                <a:rPr lang="en-US" dirty="0" smtClean="0"/>
                <a:t>a</a:t>
              </a:r>
              <a:endParaRPr lang="en-US" dirty="0"/>
            </a:p>
          </p:txBody>
        </p:sp>
        <p:sp>
          <p:nvSpPr>
            <p:cNvPr id="20" name="TextBox 19"/>
            <p:cNvSpPr txBox="1"/>
            <p:nvPr/>
          </p:nvSpPr>
          <p:spPr>
            <a:xfrm>
              <a:off x="1625780" y="3789011"/>
              <a:ext cx="609601" cy="369332"/>
            </a:xfrm>
            <a:prstGeom prst="rect">
              <a:avLst/>
            </a:prstGeom>
            <a:noFill/>
          </p:spPr>
          <p:txBody>
            <a:bodyPr wrap="square" rtlCol="0">
              <a:spAutoFit/>
            </a:bodyPr>
            <a:lstStyle/>
            <a:p>
              <a:pPr algn="ctr"/>
              <a:r>
                <a:rPr lang="en-US" dirty="0"/>
                <a:t>b</a:t>
              </a:r>
            </a:p>
          </p:txBody>
        </p:sp>
        <p:sp>
          <p:nvSpPr>
            <p:cNvPr id="21" name="TextBox 20"/>
            <p:cNvSpPr txBox="1"/>
            <p:nvPr/>
          </p:nvSpPr>
          <p:spPr>
            <a:xfrm>
              <a:off x="2193470" y="3789011"/>
              <a:ext cx="609601" cy="369332"/>
            </a:xfrm>
            <a:prstGeom prst="rect">
              <a:avLst/>
            </a:prstGeom>
            <a:noFill/>
          </p:spPr>
          <p:txBody>
            <a:bodyPr wrap="square" rtlCol="0">
              <a:spAutoFit/>
            </a:bodyPr>
            <a:lstStyle/>
            <a:p>
              <a:pPr algn="ctr"/>
              <a:r>
                <a:rPr lang="en-US" dirty="0" smtClean="0"/>
                <a:t>c</a:t>
              </a:r>
              <a:endParaRPr lang="en-US" dirty="0"/>
            </a:p>
          </p:txBody>
        </p:sp>
        <p:sp>
          <p:nvSpPr>
            <p:cNvPr id="22" name="TextBox 21"/>
            <p:cNvSpPr txBox="1"/>
            <p:nvPr/>
          </p:nvSpPr>
          <p:spPr>
            <a:xfrm>
              <a:off x="2761160" y="3789011"/>
              <a:ext cx="609601" cy="369332"/>
            </a:xfrm>
            <a:prstGeom prst="rect">
              <a:avLst/>
            </a:prstGeom>
            <a:noFill/>
          </p:spPr>
          <p:txBody>
            <a:bodyPr wrap="square" rtlCol="0">
              <a:spAutoFit/>
            </a:bodyPr>
            <a:lstStyle/>
            <a:p>
              <a:pPr algn="ctr"/>
              <a:r>
                <a:rPr lang="en-US" dirty="0" smtClean="0"/>
                <a:t>d</a:t>
              </a:r>
              <a:endParaRPr lang="en-US" dirty="0"/>
            </a:p>
          </p:txBody>
        </p:sp>
        <p:sp>
          <p:nvSpPr>
            <p:cNvPr id="23" name="TextBox 22"/>
            <p:cNvSpPr txBox="1"/>
            <p:nvPr/>
          </p:nvSpPr>
          <p:spPr>
            <a:xfrm>
              <a:off x="3328851" y="3789011"/>
              <a:ext cx="609601" cy="369332"/>
            </a:xfrm>
            <a:prstGeom prst="rect">
              <a:avLst/>
            </a:prstGeom>
            <a:noFill/>
          </p:spPr>
          <p:txBody>
            <a:bodyPr wrap="square" rtlCol="0">
              <a:spAutoFit/>
            </a:bodyPr>
            <a:lstStyle/>
            <a:p>
              <a:pPr algn="ctr"/>
              <a:r>
                <a:rPr lang="en-US" dirty="0"/>
                <a:t>e</a:t>
              </a:r>
            </a:p>
          </p:txBody>
        </p:sp>
      </p:grpSp>
      <p:sp>
        <p:nvSpPr>
          <p:cNvPr id="26" name="Rectangle 25"/>
          <p:cNvSpPr/>
          <p:nvPr/>
        </p:nvSpPr>
        <p:spPr>
          <a:xfrm>
            <a:off x="3762102" y="4615544"/>
            <a:ext cx="2386149" cy="3918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Flink</a:t>
            </a:r>
            <a:r>
              <a:rPr lang="en-US" dirty="0" smtClean="0"/>
              <a:t> Kafka Consumer</a:t>
            </a:r>
            <a:endParaRPr lang="en-US" dirty="0"/>
          </a:p>
        </p:txBody>
      </p:sp>
      <p:sp>
        <p:nvSpPr>
          <p:cNvPr id="27" name="Rectangle 26"/>
          <p:cNvSpPr/>
          <p:nvPr/>
        </p:nvSpPr>
        <p:spPr>
          <a:xfrm>
            <a:off x="3762102" y="5394960"/>
            <a:ext cx="2386149" cy="3918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Flink</a:t>
            </a:r>
            <a:r>
              <a:rPr lang="en-US" dirty="0" smtClean="0"/>
              <a:t> Kafka Consumer</a:t>
            </a:r>
            <a:endParaRPr lang="en-US" dirty="0"/>
          </a:p>
        </p:txBody>
      </p:sp>
      <p:sp>
        <p:nvSpPr>
          <p:cNvPr id="28" name="Rectangle 27"/>
          <p:cNvSpPr/>
          <p:nvPr/>
        </p:nvSpPr>
        <p:spPr>
          <a:xfrm>
            <a:off x="6737166" y="5007429"/>
            <a:ext cx="2386149" cy="3918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Flink</a:t>
            </a:r>
            <a:r>
              <a:rPr lang="en-US" dirty="0" smtClean="0"/>
              <a:t> Map Operator</a:t>
            </a:r>
            <a:endParaRPr lang="en-US" dirty="0"/>
          </a:p>
        </p:txBody>
      </p:sp>
      <p:cxnSp>
        <p:nvCxnSpPr>
          <p:cNvPr id="30" name="Straight Arrow Connector 29"/>
          <p:cNvCxnSpPr>
            <a:stCxn id="5" idx="3"/>
            <a:endCxn id="26" idx="1"/>
          </p:cNvCxnSpPr>
          <p:nvPr/>
        </p:nvCxnSpPr>
        <p:spPr>
          <a:xfrm>
            <a:off x="3405052" y="4811486"/>
            <a:ext cx="35705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18" idx="3"/>
            <a:endCxn id="27" idx="1"/>
          </p:cNvCxnSpPr>
          <p:nvPr/>
        </p:nvCxnSpPr>
        <p:spPr>
          <a:xfrm>
            <a:off x="3405052" y="5590903"/>
            <a:ext cx="3570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26" idx="3"/>
            <a:endCxn id="28" idx="1"/>
          </p:cNvCxnSpPr>
          <p:nvPr/>
        </p:nvCxnSpPr>
        <p:spPr>
          <a:xfrm>
            <a:off x="6148251" y="4811487"/>
            <a:ext cx="588915" cy="3918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27" idx="3"/>
            <a:endCxn id="28" idx="1"/>
          </p:cNvCxnSpPr>
          <p:nvPr/>
        </p:nvCxnSpPr>
        <p:spPr>
          <a:xfrm flipV="1">
            <a:off x="6148251" y="5203372"/>
            <a:ext cx="588915" cy="3875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TextBox 38"/>
          <p:cNvSpPr txBox="1"/>
          <p:nvPr/>
        </p:nvSpPr>
        <p:spPr>
          <a:xfrm>
            <a:off x="10209710" y="5047791"/>
            <a:ext cx="609601" cy="369332"/>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dirty="0" smtClean="0"/>
              <a:t>a</a:t>
            </a:r>
            <a:endParaRPr lang="en-US" dirty="0"/>
          </a:p>
        </p:txBody>
      </p:sp>
      <p:sp>
        <p:nvSpPr>
          <p:cNvPr id="40" name="TextBox 39"/>
          <p:cNvSpPr txBox="1"/>
          <p:nvPr/>
        </p:nvSpPr>
        <p:spPr>
          <a:xfrm>
            <a:off x="7037611" y="3304596"/>
            <a:ext cx="1785257" cy="369332"/>
          </a:xfrm>
          <a:prstGeom prst="rect">
            <a:avLst/>
          </a:prstGeom>
          <a:noFill/>
        </p:spPr>
        <p:txBody>
          <a:bodyPr wrap="square" rtlCol="0">
            <a:spAutoFit/>
          </a:bodyPr>
          <a:lstStyle/>
          <a:p>
            <a:r>
              <a:rPr lang="en-US" dirty="0" smtClean="0"/>
              <a:t>counter = </a:t>
            </a:r>
            <a:r>
              <a:rPr lang="en-US" dirty="0" smtClean="0"/>
              <a:t>2</a:t>
            </a:r>
            <a:endParaRPr lang="en-US" dirty="0" smtClean="0"/>
          </a:p>
        </p:txBody>
      </p:sp>
      <p:cxnSp>
        <p:nvCxnSpPr>
          <p:cNvPr id="43" name="Straight Connector 42"/>
          <p:cNvCxnSpPr/>
          <p:nvPr/>
        </p:nvCxnSpPr>
        <p:spPr>
          <a:xfrm>
            <a:off x="2147206" y="4468280"/>
            <a:ext cx="0" cy="683622"/>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44" name="Straight Connector 43"/>
          <p:cNvCxnSpPr/>
          <p:nvPr/>
        </p:nvCxnSpPr>
        <p:spPr>
          <a:xfrm>
            <a:off x="1011826" y="5249092"/>
            <a:ext cx="0" cy="683622"/>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31" name="Rectangle 30"/>
          <p:cNvSpPr/>
          <p:nvPr/>
        </p:nvSpPr>
        <p:spPr>
          <a:xfrm>
            <a:off x="386442" y="772887"/>
            <a:ext cx="2328456" cy="12409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b="1" u="sng" dirty="0" smtClean="0"/>
              <a:t>Zookeeper</a:t>
            </a:r>
          </a:p>
          <a:p>
            <a:r>
              <a:rPr lang="en-US" dirty="0" smtClean="0"/>
              <a:t>offset partition 0: 0</a:t>
            </a:r>
          </a:p>
          <a:p>
            <a:r>
              <a:rPr lang="en-US" dirty="0" smtClean="0"/>
              <a:t>offset partition 1: 0</a:t>
            </a:r>
            <a:endParaRPr lang="en-US" dirty="0"/>
          </a:p>
        </p:txBody>
      </p:sp>
      <p:sp>
        <p:nvSpPr>
          <p:cNvPr id="2" name="Rectangle 1"/>
          <p:cNvSpPr/>
          <p:nvPr/>
        </p:nvSpPr>
        <p:spPr>
          <a:xfrm>
            <a:off x="3324498" y="772887"/>
            <a:ext cx="4295502" cy="17634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b="1" u="sng" dirty="0" err="1" smtClean="0"/>
              <a:t>Flink</a:t>
            </a:r>
            <a:r>
              <a:rPr lang="en-US" b="1" u="sng" dirty="0" smtClean="0"/>
              <a:t> Checkpoint Coordinator</a:t>
            </a:r>
          </a:p>
          <a:p>
            <a:r>
              <a:rPr lang="en-US" dirty="0" smtClean="0"/>
              <a:t>Pending:</a:t>
            </a:r>
          </a:p>
          <a:p>
            <a:r>
              <a:rPr lang="en-US" dirty="0" smtClean="0"/>
              <a:t>Completed: </a:t>
            </a:r>
            <a:endParaRPr lang="en-US" dirty="0"/>
          </a:p>
        </p:txBody>
      </p:sp>
      <p:sp>
        <p:nvSpPr>
          <p:cNvPr id="33" name="TextBox 32"/>
          <p:cNvSpPr txBox="1"/>
          <p:nvPr/>
        </p:nvSpPr>
        <p:spPr>
          <a:xfrm>
            <a:off x="3686992" y="3304596"/>
            <a:ext cx="1785257" cy="369332"/>
          </a:xfrm>
          <a:prstGeom prst="rect">
            <a:avLst/>
          </a:prstGeom>
          <a:noFill/>
        </p:spPr>
        <p:txBody>
          <a:bodyPr wrap="square" rtlCol="0">
            <a:spAutoFit/>
          </a:bodyPr>
          <a:lstStyle/>
          <a:p>
            <a:r>
              <a:rPr lang="en-US" dirty="0" smtClean="0"/>
              <a:t>offsets = </a:t>
            </a:r>
            <a:r>
              <a:rPr lang="en-US" dirty="0"/>
              <a:t>3</a:t>
            </a:r>
            <a:r>
              <a:rPr lang="en-US" dirty="0" smtClean="0"/>
              <a:t>, 1</a:t>
            </a:r>
            <a:endParaRPr lang="en-US" dirty="0" smtClean="0"/>
          </a:p>
        </p:txBody>
      </p:sp>
      <p:sp>
        <p:nvSpPr>
          <p:cNvPr id="35" name="TextBox 34"/>
          <p:cNvSpPr txBox="1"/>
          <p:nvPr/>
        </p:nvSpPr>
        <p:spPr>
          <a:xfrm>
            <a:off x="6426924" y="5417513"/>
            <a:ext cx="609601" cy="369332"/>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dirty="0" smtClean="0"/>
              <a:t>a</a:t>
            </a:r>
            <a:endParaRPr lang="en-US" dirty="0"/>
          </a:p>
        </p:txBody>
      </p:sp>
      <p:sp>
        <p:nvSpPr>
          <p:cNvPr id="36" name="TextBox 35"/>
          <p:cNvSpPr txBox="1"/>
          <p:nvPr/>
        </p:nvSpPr>
        <p:spPr>
          <a:xfrm>
            <a:off x="7546521" y="4440759"/>
            <a:ext cx="609601" cy="369332"/>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dirty="0" smtClean="0"/>
              <a:t>b</a:t>
            </a:r>
            <a:endParaRPr lang="en-US" dirty="0"/>
          </a:p>
        </p:txBody>
      </p:sp>
      <p:sp>
        <p:nvSpPr>
          <p:cNvPr id="37" name="TextBox 36"/>
          <p:cNvSpPr txBox="1"/>
          <p:nvPr/>
        </p:nvSpPr>
        <p:spPr>
          <a:xfrm>
            <a:off x="4319447" y="1024040"/>
            <a:ext cx="1785257" cy="369332"/>
          </a:xfrm>
          <a:prstGeom prst="rect">
            <a:avLst/>
          </a:prstGeom>
          <a:noFill/>
        </p:spPr>
        <p:txBody>
          <a:bodyPr wrap="square" rtlCol="0">
            <a:spAutoFit/>
          </a:bodyPr>
          <a:lstStyle/>
          <a:p>
            <a:r>
              <a:rPr lang="en-US" dirty="0" smtClean="0"/>
              <a:t>offsets = </a:t>
            </a:r>
            <a:r>
              <a:rPr lang="en-US" dirty="0" smtClean="0"/>
              <a:t>2, 1</a:t>
            </a:r>
            <a:endParaRPr lang="en-US" dirty="0" smtClean="0"/>
          </a:p>
        </p:txBody>
      </p:sp>
      <p:cxnSp>
        <p:nvCxnSpPr>
          <p:cNvPr id="41" name="Straight Connector 40"/>
          <p:cNvCxnSpPr/>
          <p:nvPr/>
        </p:nvCxnSpPr>
        <p:spPr>
          <a:xfrm>
            <a:off x="7465967" y="4451169"/>
            <a:ext cx="3811" cy="328747"/>
          </a:xfrm>
          <a:prstGeom prst="line">
            <a:avLst/>
          </a:prstGeom>
          <a:ln w="38100">
            <a:solidFill>
              <a:schemeClr val="accent6">
                <a:lumMod val="75000"/>
              </a:schemeClr>
            </a:solidFill>
          </a:ln>
        </p:spPr>
        <p:style>
          <a:lnRef idx="3">
            <a:schemeClr val="accent5"/>
          </a:lnRef>
          <a:fillRef idx="0">
            <a:schemeClr val="accent5"/>
          </a:fillRef>
          <a:effectRef idx="2">
            <a:schemeClr val="accent5"/>
          </a:effectRef>
          <a:fontRef idx="minor">
            <a:schemeClr val="tx1"/>
          </a:fontRef>
        </p:style>
      </p:cxnSp>
      <p:cxnSp>
        <p:nvCxnSpPr>
          <p:cNvPr id="42" name="Straight Connector 41"/>
          <p:cNvCxnSpPr/>
          <p:nvPr/>
        </p:nvCxnSpPr>
        <p:spPr>
          <a:xfrm>
            <a:off x="6332081" y="5437806"/>
            <a:ext cx="3811" cy="328747"/>
          </a:xfrm>
          <a:prstGeom prst="line">
            <a:avLst/>
          </a:prstGeom>
          <a:ln w="38100">
            <a:solidFill>
              <a:schemeClr val="accent6">
                <a:lumMod val="75000"/>
              </a:schemeClr>
            </a:solidFill>
          </a:ln>
        </p:spPr>
        <p:style>
          <a:lnRef idx="3">
            <a:schemeClr val="accent5"/>
          </a:lnRef>
          <a:fillRef idx="0">
            <a:schemeClr val="accent5"/>
          </a:fillRef>
          <a:effectRef idx="2">
            <a:schemeClr val="accent5"/>
          </a:effectRef>
          <a:fontRef idx="minor">
            <a:schemeClr val="tx1"/>
          </a:fontRef>
        </p:style>
      </p:cxnSp>
      <p:sp>
        <p:nvSpPr>
          <p:cNvPr id="45" name="TextBox 44"/>
          <p:cNvSpPr txBox="1"/>
          <p:nvPr/>
        </p:nvSpPr>
        <p:spPr>
          <a:xfrm>
            <a:off x="4501786" y="4150418"/>
            <a:ext cx="609601" cy="369332"/>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dirty="0" smtClean="0"/>
              <a:t>c</a:t>
            </a:r>
            <a:endParaRPr lang="en-US" dirty="0"/>
          </a:p>
        </p:txBody>
      </p:sp>
      <p:sp>
        <p:nvSpPr>
          <p:cNvPr id="46" name="TextBox 45"/>
          <p:cNvSpPr txBox="1"/>
          <p:nvPr/>
        </p:nvSpPr>
        <p:spPr>
          <a:xfrm>
            <a:off x="444136" y="6143625"/>
            <a:ext cx="10833464" cy="646331"/>
          </a:xfrm>
          <a:prstGeom prst="rect">
            <a:avLst/>
          </a:prstGeom>
          <a:noFill/>
        </p:spPr>
        <p:txBody>
          <a:bodyPr wrap="square" rtlCol="0">
            <a:spAutoFit/>
          </a:bodyPr>
          <a:lstStyle/>
          <a:p>
            <a:r>
              <a:rPr lang="en-US" dirty="0" smtClean="0"/>
              <a:t>The source has created a snapshot of its state (“offset=2,1”), which is now stored in the checkpoint coordinator.</a:t>
            </a:r>
          </a:p>
          <a:p>
            <a:r>
              <a:rPr lang="en-US" dirty="0" smtClean="0"/>
              <a:t>The sources emitted a checkpoint barrier after messages “a” and “b”. </a:t>
            </a:r>
            <a:endParaRPr lang="en-US" dirty="0"/>
          </a:p>
        </p:txBody>
      </p:sp>
    </p:spTree>
    <p:extLst>
      <p:ext uri="{BB962C8B-B14F-4D97-AF65-F5344CB8AC3E}">
        <p14:creationId xmlns:p14="http://schemas.microsoft.com/office/powerpoint/2010/main" val="86032072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p:cNvGrpSpPr/>
          <p:nvPr/>
        </p:nvGrpSpPr>
        <p:grpSpPr>
          <a:xfrm>
            <a:off x="444136" y="4615543"/>
            <a:ext cx="2960916" cy="391886"/>
            <a:chOff x="905690" y="3614057"/>
            <a:chExt cx="2960916" cy="391886"/>
          </a:xfrm>
        </p:grpSpPr>
        <p:sp>
          <p:nvSpPr>
            <p:cNvPr id="5" name="Rectangle 4"/>
            <p:cNvSpPr/>
            <p:nvPr/>
          </p:nvSpPr>
          <p:spPr>
            <a:xfrm>
              <a:off x="905691" y="3614057"/>
              <a:ext cx="2960915" cy="39188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7" name="TextBox 6"/>
            <p:cNvSpPr txBox="1"/>
            <p:nvPr/>
          </p:nvSpPr>
          <p:spPr>
            <a:xfrm>
              <a:off x="905690" y="3636611"/>
              <a:ext cx="609601" cy="369332"/>
            </a:xfrm>
            <a:prstGeom prst="rect">
              <a:avLst/>
            </a:prstGeom>
            <a:noFill/>
          </p:spPr>
          <p:txBody>
            <a:bodyPr wrap="square" rtlCol="0">
              <a:spAutoFit/>
            </a:bodyPr>
            <a:lstStyle/>
            <a:p>
              <a:pPr algn="ctr"/>
              <a:r>
                <a:rPr lang="en-US" dirty="0" smtClean="0"/>
                <a:t>a</a:t>
              </a:r>
              <a:endParaRPr lang="en-US" dirty="0"/>
            </a:p>
          </p:txBody>
        </p:sp>
        <p:sp>
          <p:nvSpPr>
            <p:cNvPr id="8" name="TextBox 7"/>
            <p:cNvSpPr txBox="1"/>
            <p:nvPr/>
          </p:nvSpPr>
          <p:spPr>
            <a:xfrm>
              <a:off x="1473380" y="3636611"/>
              <a:ext cx="609601" cy="369332"/>
            </a:xfrm>
            <a:prstGeom prst="rect">
              <a:avLst/>
            </a:prstGeom>
            <a:noFill/>
          </p:spPr>
          <p:txBody>
            <a:bodyPr wrap="square" rtlCol="0">
              <a:spAutoFit/>
            </a:bodyPr>
            <a:lstStyle/>
            <a:p>
              <a:pPr algn="ctr"/>
              <a:r>
                <a:rPr lang="en-US" dirty="0"/>
                <a:t>b</a:t>
              </a:r>
            </a:p>
          </p:txBody>
        </p:sp>
        <p:sp>
          <p:nvSpPr>
            <p:cNvPr id="9" name="TextBox 8"/>
            <p:cNvSpPr txBox="1"/>
            <p:nvPr/>
          </p:nvSpPr>
          <p:spPr>
            <a:xfrm>
              <a:off x="2041070" y="3636611"/>
              <a:ext cx="609601" cy="369332"/>
            </a:xfrm>
            <a:prstGeom prst="rect">
              <a:avLst/>
            </a:prstGeom>
            <a:noFill/>
          </p:spPr>
          <p:txBody>
            <a:bodyPr wrap="square" rtlCol="0">
              <a:spAutoFit/>
            </a:bodyPr>
            <a:lstStyle/>
            <a:p>
              <a:pPr algn="ctr"/>
              <a:r>
                <a:rPr lang="en-US" dirty="0" smtClean="0"/>
                <a:t>c</a:t>
              </a:r>
              <a:endParaRPr lang="en-US" dirty="0"/>
            </a:p>
          </p:txBody>
        </p:sp>
        <p:sp>
          <p:nvSpPr>
            <p:cNvPr id="10" name="TextBox 9"/>
            <p:cNvSpPr txBox="1"/>
            <p:nvPr/>
          </p:nvSpPr>
          <p:spPr>
            <a:xfrm>
              <a:off x="2608760" y="3636611"/>
              <a:ext cx="609601" cy="369332"/>
            </a:xfrm>
            <a:prstGeom prst="rect">
              <a:avLst/>
            </a:prstGeom>
            <a:noFill/>
          </p:spPr>
          <p:txBody>
            <a:bodyPr wrap="square" rtlCol="0">
              <a:spAutoFit/>
            </a:bodyPr>
            <a:lstStyle/>
            <a:p>
              <a:pPr algn="ctr"/>
              <a:r>
                <a:rPr lang="en-US" dirty="0" smtClean="0"/>
                <a:t>d</a:t>
              </a:r>
              <a:endParaRPr lang="en-US" dirty="0"/>
            </a:p>
          </p:txBody>
        </p:sp>
        <p:sp>
          <p:nvSpPr>
            <p:cNvPr id="11" name="TextBox 10"/>
            <p:cNvSpPr txBox="1"/>
            <p:nvPr/>
          </p:nvSpPr>
          <p:spPr>
            <a:xfrm>
              <a:off x="3176451" y="3636611"/>
              <a:ext cx="609601" cy="369332"/>
            </a:xfrm>
            <a:prstGeom prst="rect">
              <a:avLst/>
            </a:prstGeom>
            <a:noFill/>
          </p:spPr>
          <p:txBody>
            <a:bodyPr wrap="square" rtlCol="0">
              <a:spAutoFit/>
            </a:bodyPr>
            <a:lstStyle/>
            <a:p>
              <a:pPr algn="ctr"/>
              <a:r>
                <a:rPr lang="en-US" dirty="0"/>
                <a:t>e</a:t>
              </a:r>
            </a:p>
          </p:txBody>
        </p:sp>
      </p:grpSp>
      <p:grpSp>
        <p:nvGrpSpPr>
          <p:cNvPr id="24" name="Group 23"/>
          <p:cNvGrpSpPr/>
          <p:nvPr/>
        </p:nvGrpSpPr>
        <p:grpSpPr>
          <a:xfrm>
            <a:off x="444136" y="5394960"/>
            <a:ext cx="2960916" cy="391886"/>
            <a:chOff x="1058090" y="3766457"/>
            <a:chExt cx="2960916" cy="391886"/>
          </a:xfrm>
        </p:grpSpPr>
        <p:sp>
          <p:nvSpPr>
            <p:cNvPr id="18" name="Rectangle 17"/>
            <p:cNvSpPr/>
            <p:nvPr/>
          </p:nvSpPr>
          <p:spPr>
            <a:xfrm>
              <a:off x="1058091" y="3766457"/>
              <a:ext cx="2960915" cy="39188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9" name="TextBox 18"/>
            <p:cNvSpPr txBox="1"/>
            <p:nvPr/>
          </p:nvSpPr>
          <p:spPr>
            <a:xfrm>
              <a:off x="1058090" y="3789011"/>
              <a:ext cx="609601" cy="369332"/>
            </a:xfrm>
            <a:prstGeom prst="rect">
              <a:avLst/>
            </a:prstGeom>
            <a:noFill/>
          </p:spPr>
          <p:txBody>
            <a:bodyPr wrap="square" rtlCol="0">
              <a:spAutoFit/>
            </a:bodyPr>
            <a:lstStyle/>
            <a:p>
              <a:pPr algn="ctr"/>
              <a:r>
                <a:rPr lang="en-US" dirty="0" smtClean="0"/>
                <a:t>a</a:t>
              </a:r>
              <a:endParaRPr lang="en-US" dirty="0"/>
            </a:p>
          </p:txBody>
        </p:sp>
        <p:sp>
          <p:nvSpPr>
            <p:cNvPr id="20" name="TextBox 19"/>
            <p:cNvSpPr txBox="1"/>
            <p:nvPr/>
          </p:nvSpPr>
          <p:spPr>
            <a:xfrm>
              <a:off x="1625780" y="3789011"/>
              <a:ext cx="609601" cy="369332"/>
            </a:xfrm>
            <a:prstGeom prst="rect">
              <a:avLst/>
            </a:prstGeom>
            <a:noFill/>
          </p:spPr>
          <p:txBody>
            <a:bodyPr wrap="square" rtlCol="0">
              <a:spAutoFit/>
            </a:bodyPr>
            <a:lstStyle/>
            <a:p>
              <a:pPr algn="ctr"/>
              <a:r>
                <a:rPr lang="en-US" dirty="0"/>
                <a:t>b</a:t>
              </a:r>
            </a:p>
          </p:txBody>
        </p:sp>
        <p:sp>
          <p:nvSpPr>
            <p:cNvPr id="21" name="TextBox 20"/>
            <p:cNvSpPr txBox="1"/>
            <p:nvPr/>
          </p:nvSpPr>
          <p:spPr>
            <a:xfrm>
              <a:off x="2193470" y="3789011"/>
              <a:ext cx="609601" cy="369332"/>
            </a:xfrm>
            <a:prstGeom prst="rect">
              <a:avLst/>
            </a:prstGeom>
            <a:noFill/>
          </p:spPr>
          <p:txBody>
            <a:bodyPr wrap="square" rtlCol="0">
              <a:spAutoFit/>
            </a:bodyPr>
            <a:lstStyle/>
            <a:p>
              <a:pPr algn="ctr"/>
              <a:r>
                <a:rPr lang="en-US" dirty="0" smtClean="0"/>
                <a:t>c</a:t>
              </a:r>
              <a:endParaRPr lang="en-US" dirty="0"/>
            </a:p>
          </p:txBody>
        </p:sp>
        <p:sp>
          <p:nvSpPr>
            <p:cNvPr id="22" name="TextBox 21"/>
            <p:cNvSpPr txBox="1"/>
            <p:nvPr/>
          </p:nvSpPr>
          <p:spPr>
            <a:xfrm>
              <a:off x="2761160" y="3789011"/>
              <a:ext cx="609601" cy="369332"/>
            </a:xfrm>
            <a:prstGeom prst="rect">
              <a:avLst/>
            </a:prstGeom>
            <a:noFill/>
          </p:spPr>
          <p:txBody>
            <a:bodyPr wrap="square" rtlCol="0">
              <a:spAutoFit/>
            </a:bodyPr>
            <a:lstStyle/>
            <a:p>
              <a:pPr algn="ctr"/>
              <a:r>
                <a:rPr lang="en-US" dirty="0" smtClean="0"/>
                <a:t>d</a:t>
              </a:r>
              <a:endParaRPr lang="en-US" dirty="0"/>
            </a:p>
          </p:txBody>
        </p:sp>
        <p:sp>
          <p:nvSpPr>
            <p:cNvPr id="23" name="TextBox 22"/>
            <p:cNvSpPr txBox="1"/>
            <p:nvPr/>
          </p:nvSpPr>
          <p:spPr>
            <a:xfrm>
              <a:off x="3328851" y="3789011"/>
              <a:ext cx="609601" cy="369332"/>
            </a:xfrm>
            <a:prstGeom prst="rect">
              <a:avLst/>
            </a:prstGeom>
            <a:noFill/>
          </p:spPr>
          <p:txBody>
            <a:bodyPr wrap="square" rtlCol="0">
              <a:spAutoFit/>
            </a:bodyPr>
            <a:lstStyle/>
            <a:p>
              <a:pPr algn="ctr"/>
              <a:r>
                <a:rPr lang="en-US" dirty="0"/>
                <a:t>e</a:t>
              </a:r>
            </a:p>
          </p:txBody>
        </p:sp>
      </p:grpSp>
      <p:sp>
        <p:nvSpPr>
          <p:cNvPr id="26" name="Rectangle 25"/>
          <p:cNvSpPr/>
          <p:nvPr/>
        </p:nvSpPr>
        <p:spPr>
          <a:xfrm>
            <a:off x="3762102" y="4615544"/>
            <a:ext cx="2386149" cy="3918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Flink</a:t>
            </a:r>
            <a:r>
              <a:rPr lang="en-US" dirty="0" smtClean="0"/>
              <a:t> Kafka Consumer</a:t>
            </a:r>
            <a:endParaRPr lang="en-US" dirty="0"/>
          </a:p>
        </p:txBody>
      </p:sp>
      <p:sp>
        <p:nvSpPr>
          <p:cNvPr id="27" name="Rectangle 26"/>
          <p:cNvSpPr/>
          <p:nvPr/>
        </p:nvSpPr>
        <p:spPr>
          <a:xfrm>
            <a:off x="3762102" y="5394960"/>
            <a:ext cx="2386149" cy="3918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Flink</a:t>
            </a:r>
            <a:r>
              <a:rPr lang="en-US" dirty="0" smtClean="0"/>
              <a:t> Kafka Consumer</a:t>
            </a:r>
            <a:endParaRPr lang="en-US" dirty="0"/>
          </a:p>
        </p:txBody>
      </p:sp>
      <p:sp>
        <p:nvSpPr>
          <p:cNvPr id="28" name="Rectangle 27"/>
          <p:cNvSpPr/>
          <p:nvPr/>
        </p:nvSpPr>
        <p:spPr>
          <a:xfrm>
            <a:off x="6737166" y="5007429"/>
            <a:ext cx="2386149" cy="3918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Flink</a:t>
            </a:r>
            <a:r>
              <a:rPr lang="en-US" dirty="0" smtClean="0"/>
              <a:t> Map Operator</a:t>
            </a:r>
            <a:endParaRPr lang="en-US" dirty="0"/>
          </a:p>
        </p:txBody>
      </p:sp>
      <p:cxnSp>
        <p:nvCxnSpPr>
          <p:cNvPr id="30" name="Straight Arrow Connector 29"/>
          <p:cNvCxnSpPr>
            <a:stCxn id="5" idx="3"/>
            <a:endCxn id="26" idx="1"/>
          </p:cNvCxnSpPr>
          <p:nvPr/>
        </p:nvCxnSpPr>
        <p:spPr>
          <a:xfrm>
            <a:off x="3405052" y="4811486"/>
            <a:ext cx="35705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18" idx="3"/>
            <a:endCxn id="27" idx="1"/>
          </p:cNvCxnSpPr>
          <p:nvPr/>
        </p:nvCxnSpPr>
        <p:spPr>
          <a:xfrm>
            <a:off x="3405052" y="5590903"/>
            <a:ext cx="3570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26" idx="3"/>
            <a:endCxn id="28" idx="1"/>
          </p:cNvCxnSpPr>
          <p:nvPr/>
        </p:nvCxnSpPr>
        <p:spPr>
          <a:xfrm>
            <a:off x="6148251" y="4811487"/>
            <a:ext cx="588915" cy="3918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27" idx="3"/>
            <a:endCxn id="28" idx="1"/>
          </p:cNvCxnSpPr>
          <p:nvPr/>
        </p:nvCxnSpPr>
        <p:spPr>
          <a:xfrm flipV="1">
            <a:off x="6148251" y="5203372"/>
            <a:ext cx="588915" cy="3875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7037611" y="3304596"/>
            <a:ext cx="1785257" cy="369332"/>
          </a:xfrm>
          <a:prstGeom prst="rect">
            <a:avLst/>
          </a:prstGeom>
          <a:noFill/>
        </p:spPr>
        <p:txBody>
          <a:bodyPr wrap="square" rtlCol="0">
            <a:spAutoFit/>
          </a:bodyPr>
          <a:lstStyle/>
          <a:p>
            <a:r>
              <a:rPr lang="en-US" dirty="0" smtClean="0"/>
              <a:t>counter = </a:t>
            </a:r>
            <a:r>
              <a:rPr lang="en-US" dirty="0" smtClean="0"/>
              <a:t>3</a:t>
            </a:r>
            <a:endParaRPr lang="en-US" dirty="0" smtClean="0"/>
          </a:p>
        </p:txBody>
      </p:sp>
      <p:cxnSp>
        <p:nvCxnSpPr>
          <p:cNvPr id="43" name="Straight Connector 42"/>
          <p:cNvCxnSpPr/>
          <p:nvPr/>
        </p:nvCxnSpPr>
        <p:spPr>
          <a:xfrm>
            <a:off x="2147206" y="4482739"/>
            <a:ext cx="0" cy="683622"/>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44" name="Straight Connector 43"/>
          <p:cNvCxnSpPr/>
          <p:nvPr/>
        </p:nvCxnSpPr>
        <p:spPr>
          <a:xfrm>
            <a:off x="1621427" y="5249092"/>
            <a:ext cx="0" cy="683622"/>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31" name="Rectangle 30"/>
          <p:cNvSpPr/>
          <p:nvPr/>
        </p:nvSpPr>
        <p:spPr>
          <a:xfrm>
            <a:off x="386442" y="772887"/>
            <a:ext cx="2328456" cy="12409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b="1" u="sng" dirty="0" smtClean="0"/>
              <a:t>Zookeeper</a:t>
            </a:r>
          </a:p>
          <a:p>
            <a:r>
              <a:rPr lang="en-US" dirty="0" smtClean="0"/>
              <a:t>offset partition 0: 0</a:t>
            </a:r>
          </a:p>
          <a:p>
            <a:r>
              <a:rPr lang="en-US" dirty="0" smtClean="0"/>
              <a:t>offset partition 1: 0</a:t>
            </a:r>
            <a:endParaRPr lang="en-US" dirty="0"/>
          </a:p>
        </p:txBody>
      </p:sp>
      <p:sp>
        <p:nvSpPr>
          <p:cNvPr id="2" name="Rectangle 1"/>
          <p:cNvSpPr/>
          <p:nvPr/>
        </p:nvSpPr>
        <p:spPr>
          <a:xfrm>
            <a:off x="3324498" y="772887"/>
            <a:ext cx="4295502" cy="17634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b="1" u="sng" dirty="0" err="1" smtClean="0"/>
              <a:t>Flink</a:t>
            </a:r>
            <a:r>
              <a:rPr lang="en-US" b="1" u="sng" dirty="0" smtClean="0"/>
              <a:t> Checkpoint Coordinator</a:t>
            </a:r>
          </a:p>
          <a:p>
            <a:r>
              <a:rPr lang="en-US" dirty="0" smtClean="0"/>
              <a:t>Pending:</a:t>
            </a:r>
          </a:p>
          <a:p>
            <a:r>
              <a:rPr lang="en-US" dirty="0" smtClean="0"/>
              <a:t>Completed: </a:t>
            </a:r>
            <a:endParaRPr lang="en-US" dirty="0"/>
          </a:p>
        </p:txBody>
      </p:sp>
      <p:sp>
        <p:nvSpPr>
          <p:cNvPr id="33" name="TextBox 32"/>
          <p:cNvSpPr txBox="1"/>
          <p:nvPr/>
        </p:nvSpPr>
        <p:spPr>
          <a:xfrm>
            <a:off x="3686992" y="3304596"/>
            <a:ext cx="1785257" cy="369332"/>
          </a:xfrm>
          <a:prstGeom prst="rect">
            <a:avLst/>
          </a:prstGeom>
          <a:noFill/>
        </p:spPr>
        <p:txBody>
          <a:bodyPr wrap="square" rtlCol="0">
            <a:spAutoFit/>
          </a:bodyPr>
          <a:lstStyle/>
          <a:p>
            <a:r>
              <a:rPr lang="en-US" dirty="0" smtClean="0"/>
              <a:t>offsets = </a:t>
            </a:r>
            <a:r>
              <a:rPr lang="en-US" dirty="0"/>
              <a:t>3</a:t>
            </a:r>
            <a:r>
              <a:rPr lang="en-US" dirty="0" smtClean="0"/>
              <a:t>, 2</a:t>
            </a:r>
            <a:endParaRPr lang="en-US" dirty="0" smtClean="0"/>
          </a:p>
        </p:txBody>
      </p:sp>
      <p:sp>
        <p:nvSpPr>
          <p:cNvPr id="35" name="TextBox 34"/>
          <p:cNvSpPr txBox="1"/>
          <p:nvPr/>
        </p:nvSpPr>
        <p:spPr>
          <a:xfrm>
            <a:off x="7677150" y="5552616"/>
            <a:ext cx="609601" cy="369332"/>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dirty="0" smtClean="0"/>
              <a:t>a</a:t>
            </a:r>
            <a:endParaRPr lang="en-US" dirty="0"/>
          </a:p>
        </p:txBody>
      </p:sp>
      <p:sp>
        <p:nvSpPr>
          <p:cNvPr id="36" name="TextBox 35"/>
          <p:cNvSpPr txBox="1"/>
          <p:nvPr/>
        </p:nvSpPr>
        <p:spPr>
          <a:xfrm>
            <a:off x="10441030" y="4979908"/>
            <a:ext cx="609601" cy="369332"/>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dirty="0" smtClean="0"/>
              <a:t>b</a:t>
            </a:r>
            <a:endParaRPr lang="en-US" dirty="0"/>
          </a:p>
        </p:txBody>
      </p:sp>
      <p:sp>
        <p:nvSpPr>
          <p:cNvPr id="37" name="TextBox 36"/>
          <p:cNvSpPr txBox="1"/>
          <p:nvPr/>
        </p:nvSpPr>
        <p:spPr>
          <a:xfrm>
            <a:off x="4319447" y="1024040"/>
            <a:ext cx="1785257" cy="369332"/>
          </a:xfrm>
          <a:prstGeom prst="rect">
            <a:avLst/>
          </a:prstGeom>
          <a:noFill/>
        </p:spPr>
        <p:txBody>
          <a:bodyPr wrap="square" rtlCol="0">
            <a:spAutoFit/>
          </a:bodyPr>
          <a:lstStyle/>
          <a:p>
            <a:r>
              <a:rPr lang="en-US" dirty="0" smtClean="0"/>
              <a:t>offsets = </a:t>
            </a:r>
            <a:r>
              <a:rPr lang="en-US" dirty="0" smtClean="0"/>
              <a:t>2, 1</a:t>
            </a:r>
            <a:endParaRPr lang="en-US" dirty="0" smtClean="0"/>
          </a:p>
        </p:txBody>
      </p:sp>
      <p:cxnSp>
        <p:nvCxnSpPr>
          <p:cNvPr id="41" name="Straight Connector 40"/>
          <p:cNvCxnSpPr/>
          <p:nvPr/>
        </p:nvCxnSpPr>
        <p:spPr>
          <a:xfrm>
            <a:off x="7465967" y="4451169"/>
            <a:ext cx="3811" cy="328747"/>
          </a:xfrm>
          <a:prstGeom prst="line">
            <a:avLst/>
          </a:prstGeom>
          <a:ln w="38100">
            <a:solidFill>
              <a:schemeClr val="accent6">
                <a:lumMod val="75000"/>
              </a:schemeClr>
            </a:solidFill>
          </a:ln>
        </p:spPr>
        <p:style>
          <a:lnRef idx="3">
            <a:schemeClr val="accent5"/>
          </a:lnRef>
          <a:fillRef idx="0">
            <a:schemeClr val="accent5"/>
          </a:fillRef>
          <a:effectRef idx="2">
            <a:schemeClr val="accent5"/>
          </a:effectRef>
          <a:fontRef idx="minor">
            <a:schemeClr val="tx1"/>
          </a:fontRef>
        </p:style>
      </p:cxnSp>
      <p:cxnSp>
        <p:nvCxnSpPr>
          <p:cNvPr id="42" name="Straight Connector 41"/>
          <p:cNvCxnSpPr/>
          <p:nvPr/>
        </p:nvCxnSpPr>
        <p:spPr>
          <a:xfrm>
            <a:off x="7350576" y="4482739"/>
            <a:ext cx="3811" cy="328747"/>
          </a:xfrm>
          <a:prstGeom prst="line">
            <a:avLst/>
          </a:prstGeom>
          <a:ln w="38100">
            <a:solidFill>
              <a:schemeClr val="accent6">
                <a:lumMod val="75000"/>
              </a:schemeClr>
            </a:solidFill>
          </a:ln>
        </p:spPr>
        <p:style>
          <a:lnRef idx="3">
            <a:schemeClr val="accent5"/>
          </a:lnRef>
          <a:fillRef idx="0">
            <a:schemeClr val="accent5"/>
          </a:fillRef>
          <a:effectRef idx="2">
            <a:schemeClr val="accent5"/>
          </a:effectRef>
          <a:fontRef idx="minor">
            <a:schemeClr val="tx1"/>
          </a:fontRef>
        </p:style>
      </p:cxnSp>
      <p:sp>
        <p:nvSpPr>
          <p:cNvPr id="45" name="TextBox 44"/>
          <p:cNvSpPr txBox="1"/>
          <p:nvPr/>
        </p:nvSpPr>
        <p:spPr>
          <a:xfrm>
            <a:off x="5743302" y="1022219"/>
            <a:ext cx="1785257" cy="369332"/>
          </a:xfrm>
          <a:prstGeom prst="rect">
            <a:avLst/>
          </a:prstGeom>
          <a:noFill/>
        </p:spPr>
        <p:txBody>
          <a:bodyPr wrap="square" rtlCol="0">
            <a:spAutoFit/>
          </a:bodyPr>
          <a:lstStyle/>
          <a:p>
            <a:r>
              <a:rPr lang="en-US" dirty="0" smtClean="0"/>
              <a:t>counter = </a:t>
            </a:r>
            <a:r>
              <a:rPr lang="en-US" dirty="0" smtClean="0"/>
              <a:t>3</a:t>
            </a:r>
            <a:endParaRPr lang="en-US" dirty="0" smtClean="0"/>
          </a:p>
        </p:txBody>
      </p:sp>
      <p:sp>
        <p:nvSpPr>
          <p:cNvPr id="46" name="TextBox 45"/>
          <p:cNvSpPr txBox="1"/>
          <p:nvPr/>
        </p:nvSpPr>
        <p:spPr>
          <a:xfrm>
            <a:off x="4501786" y="4150418"/>
            <a:ext cx="609601" cy="369332"/>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dirty="0" smtClean="0"/>
              <a:t>c</a:t>
            </a:r>
            <a:endParaRPr lang="en-US" dirty="0"/>
          </a:p>
        </p:txBody>
      </p:sp>
      <p:sp>
        <p:nvSpPr>
          <p:cNvPr id="47" name="TextBox 46"/>
          <p:cNvSpPr txBox="1"/>
          <p:nvPr/>
        </p:nvSpPr>
        <p:spPr>
          <a:xfrm>
            <a:off x="4552676" y="5872112"/>
            <a:ext cx="609601" cy="369332"/>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dirty="0" smtClean="0"/>
              <a:t>b</a:t>
            </a:r>
            <a:endParaRPr lang="en-US" dirty="0"/>
          </a:p>
        </p:txBody>
      </p:sp>
      <p:sp>
        <p:nvSpPr>
          <p:cNvPr id="48" name="TextBox 47"/>
          <p:cNvSpPr txBox="1"/>
          <p:nvPr/>
        </p:nvSpPr>
        <p:spPr>
          <a:xfrm>
            <a:off x="444136" y="6143625"/>
            <a:ext cx="10833464" cy="646331"/>
          </a:xfrm>
          <a:prstGeom prst="rect">
            <a:avLst/>
          </a:prstGeom>
          <a:noFill/>
        </p:spPr>
        <p:txBody>
          <a:bodyPr wrap="square" rtlCol="0">
            <a:spAutoFit/>
          </a:bodyPr>
          <a:lstStyle/>
          <a:p>
            <a:r>
              <a:rPr lang="en-US" dirty="0" smtClean="0"/>
              <a:t>The map operator has received checkpoint barriers from both sources. It checkpoints its state (counter=3) in the coordinator. At the same time, the consumers are further reading more data from the Kafka partitions.</a:t>
            </a:r>
            <a:endParaRPr lang="en-US" dirty="0"/>
          </a:p>
        </p:txBody>
      </p:sp>
    </p:spTree>
    <p:extLst>
      <p:ext uri="{BB962C8B-B14F-4D97-AF65-F5344CB8AC3E}">
        <p14:creationId xmlns:p14="http://schemas.microsoft.com/office/powerpoint/2010/main" val="169654774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p:cNvGrpSpPr/>
          <p:nvPr/>
        </p:nvGrpSpPr>
        <p:grpSpPr>
          <a:xfrm>
            <a:off x="444136" y="4615543"/>
            <a:ext cx="2960916" cy="391886"/>
            <a:chOff x="905690" y="3614057"/>
            <a:chExt cx="2960916" cy="391886"/>
          </a:xfrm>
        </p:grpSpPr>
        <p:sp>
          <p:nvSpPr>
            <p:cNvPr id="5" name="Rectangle 4"/>
            <p:cNvSpPr/>
            <p:nvPr/>
          </p:nvSpPr>
          <p:spPr>
            <a:xfrm>
              <a:off x="905691" y="3614057"/>
              <a:ext cx="2960915" cy="39188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7" name="TextBox 6"/>
            <p:cNvSpPr txBox="1"/>
            <p:nvPr/>
          </p:nvSpPr>
          <p:spPr>
            <a:xfrm>
              <a:off x="905690" y="3636611"/>
              <a:ext cx="609601" cy="369332"/>
            </a:xfrm>
            <a:prstGeom prst="rect">
              <a:avLst/>
            </a:prstGeom>
            <a:noFill/>
          </p:spPr>
          <p:txBody>
            <a:bodyPr wrap="square" rtlCol="0">
              <a:spAutoFit/>
            </a:bodyPr>
            <a:lstStyle/>
            <a:p>
              <a:pPr algn="ctr"/>
              <a:r>
                <a:rPr lang="en-US" dirty="0" smtClean="0"/>
                <a:t>a</a:t>
              </a:r>
              <a:endParaRPr lang="en-US" dirty="0"/>
            </a:p>
          </p:txBody>
        </p:sp>
        <p:sp>
          <p:nvSpPr>
            <p:cNvPr id="8" name="TextBox 7"/>
            <p:cNvSpPr txBox="1"/>
            <p:nvPr/>
          </p:nvSpPr>
          <p:spPr>
            <a:xfrm>
              <a:off x="1473380" y="3636611"/>
              <a:ext cx="609601" cy="369332"/>
            </a:xfrm>
            <a:prstGeom prst="rect">
              <a:avLst/>
            </a:prstGeom>
            <a:noFill/>
          </p:spPr>
          <p:txBody>
            <a:bodyPr wrap="square" rtlCol="0">
              <a:spAutoFit/>
            </a:bodyPr>
            <a:lstStyle/>
            <a:p>
              <a:pPr algn="ctr"/>
              <a:r>
                <a:rPr lang="en-US" dirty="0"/>
                <a:t>b</a:t>
              </a:r>
            </a:p>
          </p:txBody>
        </p:sp>
        <p:sp>
          <p:nvSpPr>
            <p:cNvPr id="9" name="TextBox 8"/>
            <p:cNvSpPr txBox="1"/>
            <p:nvPr/>
          </p:nvSpPr>
          <p:spPr>
            <a:xfrm>
              <a:off x="2041070" y="3636611"/>
              <a:ext cx="609601" cy="369332"/>
            </a:xfrm>
            <a:prstGeom prst="rect">
              <a:avLst/>
            </a:prstGeom>
            <a:noFill/>
          </p:spPr>
          <p:txBody>
            <a:bodyPr wrap="square" rtlCol="0">
              <a:spAutoFit/>
            </a:bodyPr>
            <a:lstStyle/>
            <a:p>
              <a:pPr algn="ctr"/>
              <a:r>
                <a:rPr lang="en-US" dirty="0" smtClean="0"/>
                <a:t>c</a:t>
              </a:r>
              <a:endParaRPr lang="en-US" dirty="0"/>
            </a:p>
          </p:txBody>
        </p:sp>
        <p:sp>
          <p:nvSpPr>
            <p:cNvPr id="10" name="TextBox 9"/>
            <p:cNvSpPr txBox="1"/>
            <p:nvPr/>
          </p:nvSpPr>
          <p:spPr>
            <a:xfrm>
              <a:off x="2608760" y="3636611"/>
              <a:ext cx="609601" cy="369332"/>
            </a:xfrm>
            <a:prstGeom prst="rect">
              <a:avLst/>
            </a:prstGeom>
            <a:noFill/>
          </p:spPr>
          <p:txBody>
            <a:bodyPr wrap="square" rtlCol="0">
              <a:spAutoFit/>
            </a:bodyPr>
            <a:lstStyle/>
            <a:p>
              <a:pPr algn="ctr"/>
              <a:r>
                <a:rPr lang="en-US" dirty="0" smtClean="0"/>
                <a:t>d</a:t>
              </a:r>
              <a:endParaRPr lang="en-US" dirty="0"/>
            </a:p>
          </p:txBody>
        </p:sp>
        <p:sp>
          <p:nvSpPr>
            <p:cNvPr id="11" name="TextBox 10"/>
            <p:cNvSpPr txBox="1"/>
            <p:nvPr/>
          </p:nvSpPr>
          <p:spPr>
            <a:xfrm>
              <a:off x="3176451" y="3636611"/>
              <a:ext cx="609601" cy="369332"/>
            </a:xfrm>
            <a:prstGeom prst="rect">
              <a:avLst/>
            </a:prstGeom>
            <a:noFill/>
          </p:spPr>
          <p:txBody>
            <a:bodyPr wrap="square" rtlCol="0">
              <a:spAutoFit/>
            </a:bodyPr>
            <a:lstStyle/>
            <a:p>
              <a:pPr algn="ctr"/>
              <a:r>
                <a:rPr lang="en-US" dirty="0"/>
                <a:t>e</a:t>
              </a:r>
            </a:p>
          </p:txBody>
        </p:sp>
      </p:grpSp>
      <p:grpSp>
        <p:nvGrpSpPr>
          <p:cNvPr id="24" name="Group 23"/>
          <p:cNvGrpSpPr/>
          <p:nvPr/>
        </p:nvGrpSpPr>
        <p:grpSpPr>
          <a:xfrm>
            <a:off x="444136" y="5394960"/>
            <a:ext cx="2960916" cy="391886"/>
            <a:chOff x="1058090" y="3766457"/>
            <a:chExt cx="2960916" cy="391886"/>
          </a:xfrm>
        </p:grpSpPr>
        <p:sp>
          <p:nvSpPr>
            <p:cNvPr id="18" name="Rectangle 17"/>
            <p:cNvSpPr/>
            <p:nvPr/>
          </p:nvSpPr>
          <p:spPr>
            <a:xfrm>
              <a:off x="1058091" y="3766457"/>
              <a:ext cx="2960915" cy="39188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9" name="TextBox 18"/>
            <p:cNvSpPr txBox="1"/>
            <p:nvPr/>
          </p:nvSpPr>
          <p:spPr>
            <a:xfrm>
              <a:off x="1058090" y="3789011"/>
              <a:ext cx="609601" cy="369332"/>
            </a:xfrm>
            <a:prstGeom prst="rect">
              <a:avLst/>
            </a:prstGeom>
            <a:noFill/>
          </p:spPr>
          <p:txBody>
            <a:bodyPr wrap="square" rtlCol="0">
              <a:spAutoFit/>
            </a:bodyPr>
            <a:lstStyle/>
            <a:p>
              <a:pPr algn="ctr"/>
              <a:r>
                <a:rPr lang="en-US" dirty="0" smtClean="0"/>
                <a:t>a</a:t>
              </a:r>
              <a:endParaRPr lang="en-US" dirty="0"/>
            </a:p>
          </p:txBody>
        </p:sp>
        <p:sp>
          <p:nvSpPr>
            <p:cNvPr id="20" name="TextBox 19"/>
            <p:cNvSpPr txBox="1"/>
            <p:nvPr/>
          </p:nvSpPr>
          <p:spPr>
            <a:xfrm>
              <a:off x="1625780" y="3789011"/>
              <a:ext cx="609601" cy="369332"/>
            </a:xfrm>
            <a:prstGeom prst="rect">
              <a:avLst/>
            </a:prstGeom>
            <a:noFill/>
          </p:spPr>
          <p:txBody>
            <a:bodyPr wrap="square" rtlCol="0">
              <a:spAutoFit/>
            </a:bodyPr>
            <a:lstStyle/>
            <a:p>
              <a:pPr algn="ctr"/>
              <a:r>
                <a:rPr lang="en-US" dirty="0"/>
                <a:t>b</a:t>
              </a:r>
            </a:p>
          </p:txBody>
        </p:sp>
        <p:sp>
          <p:nvSpPr>
            <p:cNvPr id="21" name="TextBox 20"/>
            <p:cNvSpPr txBox="1"/>
            <p:nvPr/>
          </p:nvSpPr>
          <p:spPr>
            <a:xfrm>
              <a:off x="2193470" y="3789011"/>
              <a:ext cx="609601" cy="369332"/>
            </a:xfrm>
            <a:prstGeom prst="rect">
              <a:avLst/>
            </a:prstGeom>
            <a:noFill/>
          </p:spPr>
          <p:txBody>
            <a:bodyPr wrap="square" rtlCol="0">
              <a:spAutoFit/>
            </a:bodyPr>
            <a:lstStyle/>
            <a:p>
              <a:pPr algn="ctr"/>
              <a:r>
                <a:rPr lang="en-US" dirty="0" smtClean="0"/>
                <a:t>c</a:t>
              </a:r>
              <a:endParaRPr lang="en-US" dirty="0"/>
            </a:p>
          </p:txBody>
        </p:sp>
        <p:sp>
          <p:nvSpPr>
            <p:cNvPr id="22" name="TextBox 21"/>
            <p:cNvSpPr txBox="1"/>
            <p:nvPr/>
          </p:nvSpPr>
          <p:spPr>
            <a:xfrm>
              <a:off x="2761160" y="3789011"/>
              <a:ext cx="609601" cy="369332"/>
            </a:xfrm>
            <a:prstGeom prst="rect">
              <a:avLst/>
            </a:prstGeom>
            <a:noFill/>
          </p:spPr>
          <p:txBody>
            <a:bodyPr wrap="square" rtlCol="0">
              <a:spAutoFit/>
            </a:bodyPr>
            <a:lstStyle/>
            <a:p>
              <a:pPr algn="ctr"/>
              <a:r>
                <a:rPr lang="en-US" dirty="0" smtClean="0"/>
                <a:t>d</a:t>
              </a:r>
              <a:endParaRPr lang="en-US" dirty="0"/>
            </a:p>
          </p:txBody>
        </p:sp>
        <p:sp>
          <p:nvSpPr>
            <p:cNvPr id="23" name="TextBox 22"/>
            <p:cNvSpPr txBox="1"/>
            <p:nvPr/>
          </p:nvSpPr>
          <p:spPr>
            <a:xfrm>
              <a:off x="3328851" y="3789011"/>
              <a:ext cx="609601" cy="369332"/>
            </a:xfrm>
            <a:prstGeom prst="rect">
              <a:avLst/>
            </a:prstGeom>
            <a:noFill/>
          </p:spPr>
          <p:txBody>
            <a:bodyPr wrap="square" rtlCol="0">
              <a:spAutoFit/>
            </a:bodyPr>
            <a:lstStyle/>
            <a:p>
              <a:pPr algn="ctr"/>
              <a:r>
                <a:rPr lang="en-US" dirty="0"/>
                <a:t>e</a:t>
              </a:r>
            </a:p>
          </p:txBody>
        </p:sp>
      </p:grpSp>
      <p:sp>
        <p:nvSpPr>
          <p:cNvPr id="26" name="Rectangle 25"/>
          <p:cNvSpPr/>
          <p:nvPr/>
        </p:nvSpPr>
        <p:spPr>
          <a:xfrm>
            <a:off x="3762102" y="4615544"/>
            <a:ext cx="2386149" cy="3918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Flink</a:t>
            </a:r>
            <a:r>
              <a:rPr lang="en-US" dirty="0" smtClean="0"/>
              <a:t> Kafka Consumer</a:t>
            </a:r>
            <a:endParaRPr lang="en-US" dirty="0"/>
          </a:p>
        </p:txBody>
      </p:sp>
      <p:sp>
        <p:nvSpPr>
          <p:cNvPr id="27" name="Rectangle 26"/>
          <p:cNvSpPr/>
          <p:nvPr/>
        </p:nvSpPr>
        <p:spPr>
          <a:xfrm>
            <a:off x="3762102" y="5394960"/>
            <a:ext cx="2386149" cy="3918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Flink</a:t>
            </a:r>
            <a:r>
              <a:rPr lang="en-US" dirty="0" smtClean="0"/>
              <a:t> Kafka Consumer</a:t>
            </a:r>
            <a:endParaRPr lang="en-US" dirty="0"/>
          </a:p>
        </p:txBody>
      </p:sp>
      <p:sp>
        <p:nvSpPr>
          <p:cNvPr id="28" name="Rectangle 27"/>
          <p:cNvSpPr/>
          <p:nvPr/>
        </p:nvSpPr>
        <p:spPr>
          <a:xfrm>
            <a:off x="6737166" y="5007429"/>
            <a:ext cx="2386149" cy="3918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Flink</a:t>
            </a:r>
            <a:r>
              <a:rPr lang="en-US" dirty="0" smtClean="0"/>
              <a:t> Map Operator</a:t>
            </a:r>
            <a:endParaRPr lang="en-US" dirty="0"/>
          </a:p>
        </p:txBody>
      </p:sp>
      <p:cxnSp>
        <p:nvCxnSpPr>
          <p:cNvPr id="30" name="Straight Arrow Connector 29"/>
          <p:cNvCxnSpPr>
            <a:stCxn id="5" idx="3"/>
            <a:endCxn id="26" idx="1"/>
          </p:cNvCxnSpPr>
          <p:nvPr/>
        </p:nvCxnSpPr>
        <p:spPr>
          <a:xfrm>
            <a:off x="3405052" y="4811486"/>
            <a:ext cx="35705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18" idx="3"/>
            <a:endCxn id="27" idx="1"/>
          </p:cNvCxnSpPr>
          <p:nvPr/>
        </p:nvCxnSpPr>
        <p:spPr>
          <a:xfrm>
            <a:off x="3405052" y="5590903"/>
            <a:ext cx="3570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26" idx="3"/>
            <a:endCxn id="28" idx="1"/>
          </p:cNvCxnSpPr>
          <p:nvPr/>
        </p:nvCxnSpPr>
        <p:spPr>
          <a:xfrm>
            <a:off x="6148251" y="4811487"/>
            <a:ext cx="588915" cy="3918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27" idx="3"/>
            <a:endCxn id="28" idx="1"/>
          </p:cNvCxnSpPr>
          <p:nvPr/>
        </p:nvCxnSpPr>
        <p:spPr>
          <a:xfrm flipV="1">
            <a:off x="6148251" y="5203372"/>
            <a:ext cx="588915" cy="3875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7037611" y="3304596"/>
            <a:ext cx="1785257" cy="369332"/>
          </a:xfrm>
          <a:prstGeom prst="rect">
            <a:avLst/>
          </a:prstGeom>
          <a:noFill/>
        </p:spPr>
        <p:txBody>
          <a:bodyPr wrap="square" rtlCol="0">
            <a:spAutoFit/>
          </a:bodyPr>
          <a:lstStyle/>
          <a:p>
            <a:r>
              <a:rPr lang="en-US" dirty="0" smtClean="0"/>
              <a:t>counter = </a:t>
            </a:r>
            <a:r>
              <a:rPr lang="en-US" dirty="0"/>
              <a:t>4</a:t>
            </a:r>
            <a:endParaRPr lang="en-US" dirty="0" smtClean="0"/>
          </a:p>
        </p:txBody>
      </p:sp>
      <p:cxnSp>
        <p:nvCxnSpPr>
          <p:cNvPr id="43" name="Straight Connector 42"/>
          <p:cNvCxnSpPr/>
          <p:nvPr/>
        </p:nvCxnSpPr>
        <p:spPr>
          <a:xfrm>
            <a:off x="2147206" y="4482739"/>
            <a:ext cx="0" cy="683622"/>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44" name="Straight Connector 43"/>
          <p:cNvCxnSpPr/>
          <p:nvPr/>
        </p:nvCxnSpPr>
        <p:spPr>
          <a:xfrm>
            <a:off x="1621427" y="5249092"/>
            <a:ext cx="0" cy="683622"/>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31" name="Rectangle 30"/>
          <p:cNvSpPr/>
          <p:nvPr/>
        </p:nvSpPr>
        <p:spPr>
          <a:xfrm>
            <a:off x="386442" y="772887"/>
            <a:ext cx="2328456" cy="12409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b="1" u="sng" dirty="0" smtClean="0"/>
              <a:t>Zookeeper</a:t>
            </a:r>
          </a:p>
          <a:p>
            <a:r>
              <a:rPr lang="en-US" dirty="0" smtClean="0"/>
              <a:t>offset partition 0: 0</a:t>
            </a:r>
          </a:p>
          <a:p>
            <a:r>
              <a:rPr lang="en-US" dirty="0" smtClean="0"/>
              <a:t>offset partition 1: 0</a:t>
            </a:r>
            <a:endParaRPr lang="en-US" dirty="0"/>
          </a:p>
        </p:txBody>
      </p:sp>
      <p:sp>
        <p:nvSpPr>
          <p:cNvPr id="2" name="Rectangle 1"/>
          <p:cNvSpPr/>
          <p:nvPr/>
        </p:nvSpPr>
        <p:spPr>
          <a:xfrm>
            <a:off x="3324498" y="772887"/>
            <a:ext cx="4295502" cy="17634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b="1" u="sng" dirty="0" err="1" smtClean="0"/>
              <a:t>Flink</a:t>
            </a:r>
            <a:r>
              <a:rPr lang="en-US" b="1" u="sng" dirty="0" smtClean="0"/>
              <a:t> Checkpoint Coordinator</a:t>
            </a:r>
          </a:p>
          <a:p>
            <a:r>
              <a:rPr lang="en-US" dirty="0" smtClean="0"/>
              <a:t>Pending:</a:t>
            </a:r>
          </a:p>
          <a:p>
            <a:r>
              <a:rPr lang="en-US" dirty="0" smtClean="0"/>
              <a:t>Completed: </a:t>
            </a:r>
            <a:endParaRPr lang="en-US" dirty="0"/>
          </a:p>
        </p:txBody>
      </p:sp>
      <p:sp>
        <p:nvSpPr>
          <p:cNvPr id="33" name="TextBox 32"/>
          <p:cNvSpPr txBox="1"/>
          <p:nvPr/>
        </p:nvSpPr>
        <p:spPr>
          <a:xfrm>
            <a:off x="3686992" y="3304596"/>
            <a:ext cx="1785257" cy="369332"/>
          </a:xfrm>
          <a:prstGeom prst="rect">
            <a:avLst/>
          </a:prstGeom>
          <a:noFill/>
        </p:spPr>
        <p:txBody>
          <a:bodyPr wrap="square" rtlCol="0">
            <a:spAutoFit/>
          </a:bodyPr>
          <a:lstStyle/>
          <a:p>
            <a:r>
              <a:rPr lang="en-US" dirty="0" smtClean="0"/>
              <a:t>offsets = </a:t>
            </a:r>
            <a:r>
              <a:rPr lang="en-US" dirty="0"/>
              <a:t>3</a:t>
            </a:r>
            <a:r>
              <a:rPr lang="en-US" dirty="0" smtClean="0"/>
              <a:t>, 2</a:t>
            </a:r>
            <a:endParaRPr lang="en-US" dirty="0" smtClean="0"/>
          </a:p>
        </p:txBody>
      </p:sp>
      <p:sp>
        <p:nvSpPr>
          <p:cNvPr id="35" name="TextBox 34"/>
          <p:cNvSpPr txBox="1"/>
          <p:nvPr/>
        </p:nvSpPr>
        <p:spPr>
          <a:xfrm>
            <a:off x="10526755" y="5007429"/>
            <a:ext cx="609601" cy="369332"/>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dirty="0" smtClean="0"/>
              <a:t>a</a:t>
            </a:r>
            <a:endParaRPr lang="en-US" dirty="0"/>
          </a:p>
        </p:txBody>
      </p:sp>
      <p:sp>
        <p:nvSpPr>
          <p:cNvPr id="37" name="TextBox 36"/>
          <p:cNvSpPr txBox="1"/>
          <p:nvPr/>
        </p:nvSpPr>
        <p:spPr>
          <a:xfrm>
            <a:off x="4509950" y="1318787"/>
            <a:ext cx="1785257" cy="369332"/>
          </a:xfrm>
          <a:prstGeom prst="rect">
            <a:avLst/>
          </a:prstGeom>
          <a:noFill/>
        </p:spPr>
        <p:txBody>
          <a:bodyPr wrap="square" rtlCol="0">
            <a:spAutoFit/>
          </a:bodyPr>
          <a:lstStyle/>
          <a:p>
            <a:r>
              <a:rPr lang="en-US" dirty="0" smtClean="0"/>
              <a:t>offsets = </a:t>
            </a:r>
            <a:r>
              <a:rPr lang="en-US" dirty="0" smtClean="0"/>
              <a:t>2, 1</a:t>
            </a:r>
            <a:endParaRPr lang="en-US" dirty="0" smtClean="0"/>
          </a:p>
        </p:txBody>
      </p:sp>
      <p:sp>
        <p:nvSpPr>
          <p:cNvPr id="45" name="TextBox 44"/>
          <p:cNvSpPr txBox="1"/>
          <p:nvPr/>
        </p:nvSpPr>
        <p:spPr>
          <a:xfrm>
            <a:off x="5844537" y="1311984"/>
            <a:ext cx="1785257" cy="369332"/>
          </a:xfrm>
          <a:prstGeom prst="rect">
            <a:avLst/>
          </a:prstGeom>
          <a:noFill/>
        </p:spPr>
        <p:txBody>
          <a:bodyPr wrap="square" rtlCol="0">
            <a:spAutoFit/>
          </a:bodyPr>
          <a:lstStyle/>
          <a:p>
            <a:r>
              <a:rPr lang="en-US" dirty="0" smtClean="0"/>
              <a:t>counter = </a:t>
            </a:r>
            <a:r>
              <a:rPr lang="en-US" dirty="0" smtClean="0"/>
              <a:t>3</a:t>
            </a:r>
            <a:endParaRPr lang="en-US" dirty="0" smtClean="0"/>
          </a:p>
        </p:txBody>
      </p:sp>
      <p:sp>
        <p:nvSpPr>
          <p:cNvPr id="46" name="TextBox 45"/>
          <p:cNvSpPr txBox="1"/>
          <p:nvPr/>
        </p:nvSpPr>
        <p:spPr>
          <a:xfrm>
            <a:off x="7528559" y="4482739"/>
            <a:ext cx="609601" cy="369332"/>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dirty="0" smtClean="0"/>
              <a:t>c</a:t>
            </a:r>
            <a:endParaRPr lang="en-US" dirty="0"/>
          </a:p>
        </p:txBody>
      </p:sp>
      <p:sp>
        <p:nvSpPr>
          <p:cNvPr id="47" name="TextBox 46"/>
          <p:cNvSpPr txBox="1"/>
          <p:nvPr/>
        </p:nvSpPr>
        <p:spPr>
          <a:xfrm>
            <a:off x="4552676" y="5872112"/>
            <a:ext cx="609601" cy="369332"/>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dirty="0" smtClean="0"/>
              <a:t>b</a:t>
            </a:r>
            <a:endParaRPr lang="en-US" dirty="0"/>
          </a:p>
        </p:txBody>
      </p:sp>
      <p:sp>
        <p:nvSpPr>
          <p:cNvPr id="39" name="Cloud Callout 38"/>
          <p:cNvSpPr/>
          <p:nvPr/>
        </p:nvSpPr>
        <p:spPr>
          <a:xfrm>
            <a:off x="4632956" y="2985108"/>
            <a:ext cx="2423161" cy="1434493"/>
          </a:xfrm>
          <a:prstGeom prst="cloudCallou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smtClean="0"/>
              <a:t>Notify checkpoint complete</a:t>
            </a:r>
            <a:endParaRPr lang="en-US" dirty="0"/>
          </a:p>
        </p:txBody>
      </p:sp>
      <p:sp>
        <p:nvSpPr>
          <p:cNvPr id="48" name="TextBox 47"/>
          <p:cNvSpPr txBox="1"/>
          <p:nvPr/>
        </p:nvSpPr>
        <p:spPr>
          <a:xfrm>
            <a:off x="444136" y="6143625"/>
            <a:ext cx="11176364" cy="646331"/>
          </a:xfrm>
          <a:prstGeom prst="rect">
            <a:avLst/>
          </a:prstGeom>
          <a:noFill/>
        </p:spPr>
        <p:txBody>
          <a:bodyPr wrap="square" rtlCol="0">
            <a:spAutoFit/>
          </a:bodyPr>
          <a:lstStyle/>
          <a:p>
            <a:r>
              <a:rPr lang="en-US" dirty="0" smtClean="0"/>
              <a:t>The checkpoint coordinator informs the Kafka consumer that the checkpoint has been completed. It commits the checkpoints offsets into Zookeeper. Note that </a:t>
            </a:r>
            <a:r>
              <a:rPr lang="en-US" dirty="0" err="1" smtClean="0"/>
              <a:t>Flink</a:t>
            </a:r>
            <a:r>
              <a:rPr lang="en-US" dirty="0" smtClean="0"/>
              <a:t> is not relying on the Kafka offsets in ZK for restoring from failures</a:t>
            </a:r>
            <a:endParaRPr lang="en-US" dirty="0"/>
          </a:p>
        </p:txBody>
      </p:sp>
    </p:spTree>
    <p:extLst>
      <p:ext uri="{BB962C8B-B14F-4D97-AF65-F5344CB8AC3E}">
        <p14:creationId xmlns:p14="http://schemas.microsoft.com/office/powerpoint/2010/main" val="318470753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p:cNvGrpSpPr/>
          <p:nvPr/>
        </p:nvGrpSpPr>
        <p:grpSpPr>
          <a:xfrm>
            <a:off x="444136" y="4615543"/>
            <a:ext cx="2960916" cy="391886"/>
            <a:chOff x="905690" y="3614057"/>
            <a:chExt cx="2960916" cy="391886"/>
          </a:xfrm>
        </p:grpSpPr>
        <p:sp>
          <p:nvSpPr>
            <p:cNvPr id="5" name="Rectangle 4"/>
            <p:cNvSpPr/>
            <p:nvPr/>
          </p:nvSpPr>
          <p:spPr>
            <a:xfrm>
              <a:off x="905691" y="3614057"/>
              <a:ext cx="2960915" cy="39188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7" name="TextBox 6"/>
            <p:cNvSpPr txBox="1"/>
            <p:nvPr/>
          </p:nvSpPr>
          <p:spPr>
            <a:xfrm>
              <a:off x="905690" y="3636611"/>
              <a:ext cx="609601" cy="369332"/>
            </a:xfrm>
            <a:prstGeom prst="rect">
              <a:avLst/>
            </a:prstGeom>
            <a:noFill/>
          </p:spPr>
          <p:txBody>
            <a:bodyPr wrap="square" rtlCol="0">
              <a:spAutoFit/>
            </a:bodyPr>
            <a:lstStyle/>
            <a:p>
              <a:pPr algn="ctr"/>
              <a:r>
                <a:rPr lang="en-US" dirty="0" smtClean="0"/>
                <a:t>a</a:t>
              </a:r>
              <a:endParaRPr lang="en-US" dirty="0"/>
            </a:p>
          </p:txBody>
        </p:sp>
        <p:sp>
          <p:nvSpPr>
            <p:cNvPr id="8" name="TextBox 7"/>
            <p:cNvSpPr txBox="1"/>
            <p:nvPr/>
          </p:nvSpPr>
          <p:spPr>
            <a:xfrm>
              <a:off x="1473380" y="3636611"/>
              <a:ext cx="609601" cy="369332"/>
            </a:xfrm>
            <a:prstGeom prst="rect">
              <a:avLst/>
            </a:prstGeom>
            <a:noFill/>
          </p:spPr>
          <p:txBody>
            <a:bodyPr wrap="square" rtlCol="0">
              <a:spAutoFit/>
            </a:bodyPr>
            <a:lstStyle/>
            <a:p>
              <a:pPr algn="ctr"/>
              <a:r>
                <a:rPr lang="en-US" dirty="0"/>
                <a:t>b</a:t>
              </a:r>
            </a:p>
          </p:txBody>
        </p:sp>
        <p:sp>
          <p:nvSpPr>
            <p:cNvPr id="9" name="TextBox 8"/>
            <p:cNvSpPr txBox="1"/>
            <p:nvPr/>
          </p:nvSpPr>
          <p:spPr>
            <a:xfrm>
              <a:off x="2041070" y="3636611"/>
              <a:ext cx="609601" cy="369332"/>
            </a:xfrm>
            <a:prstGeom prst="rect">
              <a:avLst/>
            </a:prstGeom>
            <a:noFill/>
          </p:spPr>
          <p:txBody>
            <a:bodyPr wrap="square" rtlCol="0">
              <a:spAutoFit/>
            </a:bodyPr>
            <a:lstStyle/>
            <a:p>
              <a:pPr algn="ctr"/>
              <a:r>
                <a:rPr lang="en-US" dirty="0" smtClean="0"/>
                <a:t>c</a:t>
              </a:r>
              <a:endParaRPr lang="en-US" dirty="0"/>
            </a:p>
          </p:txBody>
        </p:sp>
        <p:sp>
          <p:nvSpPr>
            <p:cNvPr id="10" name="TextBox 9"/>
            <p:cNvSpPr txBox="1"/>
            <p:nvPr/>
          </p:nvSpPr>
          <p:spPr>
            <a:xfrm>
              <a:off x="2608760" y="3636611"/>
              <a:ext cx="609601" cy="369332"/>
            </a:xfrm>
            <a:prstGeom prst="rect">
              <a:avLst/>
            </a:prstGeom>
            <a:noFill/>
          </p:spPr>
          <p:txBody>
            <a:bodyPr wrap="square" rtlCol="0">
              <a:spAutoFit/>
            </a:bodyPr>
            <a:lstStyle/>
            <a:p>
              <a:pPr algn="ctr"/>
              <a:r>
                <a:rPr lang="en-US" dirty="0" smtClean="0"/>
                <a:t>d</a:t>
              </a:r>
              <a:endParaRPr lang="en-US" dirty="0"/>
            </a:p>
          </p:txBody>
        </p:sp>
        <p:sp>
          <p:nvSpPr>
            <p:cNvPr id="11" name="TextBox 10"/>
            <p:cNvSpPr txBox="1"/>
            <p:nvPr/>
          </p:nvSpPr>
          <p:spPr>
            <a:xfrm>
              <a:off x="3176451" y="3636611"/>
              <a:ext cx="609601" cy="369332"/>
            </a:xfrm>
            <a:prstGeom prst="rect">
              <a:avLst/>
            </a:prstGeom>
            <a:noFill/>
          </p:spPr>
          <p:txBody>
            <a:bodyPr wrap="square" rtlCol="0">
              <a:spAutoFit/>
            </a:bodyPr>
            <a:lstStyle/>
            <a:p>
              <a:pPr algn="ctr"/>
              <a:r>
                <a:rPr lang="en-US" dirty="0"/>
                <a:t>e</a:t>
              </a:r>
            </a:p>
          </p:txBody>
        </p:sp>
      </p:grpSp>
      <p:grpSp>
        <p:nvGrpSpPr>
          <p:cNvPr id="24" name="Group 23"/>
          <p:cNvGrpSpPr/>
          <p:nvPr/>
        </p:nvGrpSpPr>
        <p:grpSpPr>
          <a:xfrm>
            <a:off x="444136" y="5394960"/>
            <a:ext cx="2960916" cy="391886"/>
            <a:chOff x="1058090" y="3766457"/>
            <a:chExt cx="2960916" cy="391886"/>
          </a:xfrm>
        </p:grpSpPr>
        <p:sp>
          <p:nvSpPr>
            <p:cNvPr id="18" name="Rectangle 17"/>
            <p:cNvSpPr/>
            <p:nvPr/>
          </p:nvSpPr>
          <p:spPr>
            <a:xfrm>
              <a:off x="1058091" y="3766457"/>
              <a:ext cx="2960915" cy="39188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9" name="TextBox 18"/>
            <p:cNvSpPr txBox="1"/>
            <p:nvPr/>
          </p:nvSpPr>
          <p:spPr>
            <a:xfrm>
              <a:off x="1058090" y="3789011"/>
              <a:ext cx="609601" cy="369332"/>
            </a:xfrm>
            <a:prstGeom prst="rect">
              <a:avLst/>
            </a:prstGeom>
            <a:noFill/>
          </p:spPr>
          <p:txBody>
            <a:bodyPr wrap="square" rtlCol="0">
              <a:spAutoFit/>
            </a:bodyPr>
            <a:lstStyle/>
            <a:p>
              <a:pPr algn="ctr"/>
              <a:r>
                <a:rPr lang="en-US" dirty="0" smtClean="0"/>
                <a:t>a</a:t>
              </a:r>
              <a:endParaRPr lang="en-US" dirty="0"/>
            </a:p>
          </p:txBody>
        </p:sp>
        <p:sp>
          <p:nvSpPr>
            <p:cNvPr id="20" name="TextBox 19"/>
            <p:cNvSpPr txBox="1"/>
            <p:nvPr/>
          </p:nvSpPr>
          <p:spPr>
            <a:xfrm>
              <a:off x="1625780" y="3789011"/>
              <a:ext cx="609601" cy="369332"/>
            </a:xfrm>
            <a:prstGeom prst="rect">
              <a:avLst/>
            </a:prstGeom>
            <a:noFill/>
          </p:spPr>
          <p:txBody>
            <a:bodyPr wrap="square" rtlCol="0">
              <a:spAutoFit/>
            </a:bodyPr>
            <a:lstStyle/>
            <a:p>
              <a:pPr algn="ctr"/>
              <a:r>
                <a:rPr lang="en-US" dirty="0"/>
                <a:t>b</a:t>
              </a:r>
            </a:p>
          </p:txBody>
        </p:sp>
        <p:sp>
          <p:nvSpPr>
            <p:cNvPr id="21" name="TextBox 20"/>
            <p:cNvSpPr txBox="1"/>
            <p:nvPr/>
          </p:nvSpPr>
          <p:spPr>
            <a:xfrm>
              <a:off x="2193470" y="3789011"/>
              <a:ext cx="609601" cy="369332"/>
            </a:xfrm>
            <a:prstGeom prst="rect">
              <a:avLst/>
            </a:prstGeom>
            <a:noFill/>
          </p:spPr>
          <p:txBody>
            <a:bodyPr wrap="square" rtlCol="0">
              <a:spAutoFit/>
            </a:bodyPr>
            <a:lstStyle/>
            <a:p>
              <a:pPr algn="ctr"/>
              <a:r>
                <a:rPr lang="en-US" dirty="0" smtClean="0"/>
                <a:t>c</a:t>
              </a:r>
              <a:endParaRPr lang="en-US" dirty="0"/>
            </a:p>
          </p:txBody>
        </p:sp>
        <p:sp>
          <p:nvSpPr>
            <p:cNvPr id="22" name="TextBox 21"/>
            <p:cNvSpPr txBox="1"/>
            <p:nvPr/>
          </p:nvSpPr>
          <p:spPr>
            <a:xfrm>
              <a:off x="2761160" y="3789011"/>
              <a:ext cx="609601" cy="369332"/>
            </a:xfrm>
            <a:prstGeom prst="rect">
              <a:avLst/>
            </a:prstGeom>
            <a:noFill/>
          </p:spPr>
          <p:txBody>
            <a:bodyPr wrap="square" rtlCol="0">
              <a:spAutoFit/>
            </a:bodyPr>
            <a:lstStyle/>
            <a:p>
              <a:pPr algn="ctr"/>
              <a:r>
                <a:rPr lang="en-US" dirty="0" smtClean="0"/>
                <a:t>d</a:t>
              </a:r>
              <a:endParaRPr lang="en-US" dirty="0"/>
            </a:p>
          </p:txBody>
        </p:sp>
        <p:sp>
          <p:nvSpPr>
            <p:cNvPr id="23" name="TextBox 22"/>
            <p:cNvSpPr txBox="1"/>
            <p:nvPr/>
          </p:nvSpPr>
          <p:spPr>
            <a:xfrm>
              <a:off x="3328851" y="3789011"/>
              <a:ext cx="609601" cy="369332"/>
            </a:xfrm>
            <a:prstGeom prst="rect">
              <a:avLst/>
            </a:prstGeom>
            <a:noFill/>
          </p:spPr>
          <p:txBody>
            <a:bodyPr wrap="square" rtlCol="0">
              <a:spAutoFit/>
            </a:bodyPr>
            <a:lstStyle/>
            <a:p>
              <a:pPr algn="ctr"/>
              <a:r>
                <a:rPr lang="en-US" dirty="0"/>
                <a:t>e</a:t>
              </a:r>
            </a:p>
          </p:txBody>
        </p:sp>
      </p:grpSp>
      <p:sp>
        <p:nvSpPr>
          <p:cNvPr id="26" name="Rectangle 25"/>
          <p:cNvSpPr/>
          <p:nvPr/>
        </p:nvSpPr>
        <p:spPr>
          <a:xfrm>
            <a:off x="3762102" y="4615544"/>
            <a:ext cx="2386149" cy="3918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Flink</a:t>
            </a:r>
            <a:r>
              <a:rPr lang="en-US" dirty="0" smtClean="0"/>
              <a:t> Kafka Consumer</a:t>
            </a:r>
            <a:endParaRPr lang="en-US" dirty="0"/>
          </a:p>
        </p:txBody>
      </p:sp>
      <p:sp>
        <p:nvSpPr>
          <p:cNvPr id="27" name="Rectangle 26"/>
          <p:cNvSpPr/>
          <p:nvPr/>
        </p:nvSpPr>
        <p:spPr>
          <a:xfrm>
            <a:off x="3762102" y="5394960"/>
            <a:ext cx="2386149" cy="3918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Flink</a:t>
            </a:r>
            <a:r>
              <a:rPr lang="en-US" dirty="0" smtClean="0"/>
              <a:t> Kafka Consumer</a:t>
            </a:r>
            <a:endParaRPr lang="en-US" dirty="0"/>
          </a:p>
        </p:txBody>
      </p:sp>
      <p:sp>
        <p:nvSpPr>
          <p:cNvPr id="28" name="Rectangle 27"/>
          <p:cNvSpPr/>
          <p:nvPr/>
        </p:nvSpPr>
        <p:spPr>
          <a:xfrm>
            <a:off x="6737166" y="5007429"/>
            <a:ext cx="2386149" cy="3918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Flink</a:t>
            </a:r>
            <a:r>
              <a:rPr lang="en-US" dirty="0" smtClean="0"/>
              <a:t> Map Operator</a:t>
            </a:r>
            <a:endParaRPr lang="en-US" dirty="0"/>
          </a:p>
        </p:txBody>
      </p:sp>
      <p:cxnSp>
        <p:nvCxnSpPr>
          <p:cNvPr id="30" name="Straight Arrow Connector 29"/>
          <p:cNvCxnSpPr>
            <a:stCxn id="5" idx="3"/>
            <a:endCxn id="26" idx="1"/>
          </p:cNvCxnSpPr>
          <p:nvPr/>
        </p:nvCxnSpPr>
        <p:spPr>
          <a:xfrm>
            <a:off x="3405052" y="4811486"/>
            <a:ext cx="35705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18" idx="3"/>
            <a:endCxn id="27" idx="1"/>
          </p:cNvCxnSpPr>
          <p:nvPr/>
        </p:nvCxnSpPr>
        <p:spPr>
          <a:xfrm>
            <a:off x="3405052" y="5590903"/>
            <a:ext cx="3570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26" idx="3"/>
            <a:endCxn id="28" idx="1"/>
          </p:cNvCxnSpPr>
          <p:nvPr/>
        </p:nvCxnSpPr>
        <p:spPr>
          <a:xfrm>
            <a:off x="6148251" y="4811487"/>
            <a:ext cx="588915" cy="3918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27" idx="3"/>
            <a:endCxn id="28" idx="1"/>
          </p:cNvCxnSpPr>
          <p:nvPr/>
        </p:nvCxnSpPr>
        <p:spPr>
          <a:xfrm flipV="1">
            <a:off x="6148251" y="5203372"/>
            <a:ext cx="588915" cy="3875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7037611" y="3304596"/>
            <a:ext cx="1785257" cy="369332"/>
          </a:xfrm>
          <a:prstGeom prst="rect">
            <a:avLst/>
          </a:prstGeom>
          <a:noFill/>
        </p:spPr>
        <p:txBody>
          <a:bodyPr wrap="square" rtlCol="0">
            <a:spAutoFit/>
          </a:bodyPr>
          <a:lstStyle/>
          <a:p>
            <a:r>
              <a:rPr lang="en-US" dirty="0" smtClean="0"/>
              <a:t>counter = </a:t>
            </a:r>
            <a:r>
              <a:rPr lang="en-US" dirty="0"/>
              <a:t>4</a:t>
            </a:r>
            <a:endParaRPr lang="en-US" dirty="0" smtClean="0"/>
          </a:p>
        </p:txBody>
      </p:sp>
      <p:cxnSp>
        <p:nvCxnSpPr>
          <p:cNvPr id="43" name="Straight Connector 42"/>
          <p:cNvCxnSpPr/>
          <p:nvPr/>
        </p:nvCxnSpPr>
        <p:spPr>
          <a:xfrm>
            <a:off x="2147206" y="4482739"/>
            <a:ext cx="0" cy="683622"/>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44" name="Straight Connector 43"/>
          <p:cNvCxnSpPr/>
          <p:nvPr/>
        </p:nvCxnSpPr>
        <p:spPr>
          <a:xfrm>
            <a:off x="1621427" y="5249092"/>
            <a:ext cx="0" cy="683622"/>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31" name="Rectangle 30"/>
          <p:cNvSpPr/>
          <p:nvPr/>
        </p:nvSpPr>
        <p:spPr>
          <a:xfrm>
            <a:off x="386442" y="772887"/>
            <a:ext cx="2328456" cy="12409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b="1" u="sng" dirty="0" smtClean="0"/>
              <a:t>Zookeeper</a:t>
            </a:r>
          </a:p>
          <a:p>
            <a:r>
              <a:rPr lang="en-US" dirty="0" smtClean="0"/>
              <a:t>offset partition 0: </a:t>
            </a:r>
            <a:r>
              <a:rPr lang="en-US" dirty="0" smtClean="0"/>
              <a:t>2</a:t>
            </a:r>
            <a:endParaRPr lang="en-US" dirty="0" smtClean="0"/>
          </a:p>
          <a:p>
            <a:r>
              <a:rPr lang="en-US" dirty="0" smtClean="0"/>
              <a:t>offset partition 1: </a:t>
            </a:r>
            <a:r>
              <a:rPr lang="en-US" dirty="0" smtClean="0"/>
              <a:t>1</a:t>
            </a:r>
            <a:endParaRPr lang="en-US" dirty="0"/>
          </a:p>
        </p:txBody>
      </p:sp>
      <p:sp>
        <p:nvSpPr>
          <p:cNvPr id="2" name="Rectangle 1"/>
          <p:cNvSpPr/>
          <p:nvPr/>
        </p:nvSpPr>
        <p:spPr>
          <a:xfrm>
            <a:off x="3324498" y="772887"/>
            <a:ext cx="4295502" cy="17634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b="1" u="sng" dirty="0" err="1" smtClean="0"/>
              <a:t>Flink</a:t>
            </a:r>
            <a:r>
              <a:rPr lang="en-US" b="1" u="sng" dirty="0" smtClean="0"/>
              <a:t> Checkpoint Coordinator</a:t>
            </a:r>
          </a:p>
          <a:p>
            <a:r>
              <a:rPr lang="en-US" dirty="0" smtClean="0"/>
              <a:t>Pending:</a:t>
            </a:r>
          </a:p>
          <a:p>
            <a:r>
              <a:rPr lang="en-US" dirty="0" smtClean="0"/>
              <a:t>Completed: </a:t>
            </a:r>
            <a:endParaRPr lang="en-US" dirty="0"/>
          </a:p>
        </p:txBody>
      </p:sp>
      <p:sp>
        <p:nvSpPr>
          <p:cNvPr id="33" name="TextBox 32"/>
          <p:cNvSpPr txBox="1"/>
          <p:nvPr/>
        </p:nvSpPr>
        <p:spPr>
          <a:xfrm>
            <a:off x="3686992" y="3304596"/>
            <a:ext cx="1785257" cy="369332"/>
          </a:xfrm>
          <a:prstGeom prst="rect">
            <a:avLst/>
          </a:prstGeom>
          <a:noFill/>
        </p:spPr>
        <p:txBody>
          <a:bodyPr wrap="square" rtlCol="0">
            <a:spAutoFit/>
          </a:bodyPr>
          <a:lstStyle/>
          <a:p>
            <a:r>
              <a:rPr lang="en-US" dirty="0" smtClean="0"/>
              <a:t>offsets = </a:t>
            </a:r>
            <a:r>
              <a:rPr lang="en-US" dirty="0"/>
              <a:t>3</a:t>
            </a:r>
            <a:r>
              <a:rPr lang="en-US" dirty="0" smtClean="0"/>
              <a:t>, 2</a:t>
            </a:r>
            <a:endParaRPr lang="en-US" dirty="0" smtClean="0"/>
          </a:p>
        </p:txBody>
      </p:sp>
      <p:sp>
        <p:nvSpPr>
          <p:cNvPr id="35" name="TextBox 34"/>
          <p:cNvSpPr txBox="1"/>
          <p:nvPr/>
        </p:nvSpPr>
        <p:spPr>
          <a:xfrm>
            <a:off x="10526755" y="5007429"/>
            <a:ext cx="609601" cy="369332"/>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dirty="0" smtClean="0"/>
              <a:t>a</a:t>
            </a:r>
            <a:endParaRPr lang="en-US" dirty="0"/>
          </a:p>
        </p:txBody>
      </p:sp>
      <p:sp>
        <p:nvSpPr>
          <p:cNvPr id="37" name="TextBox 36"/>
          <p:cNvSpPr txBox="1"/>
          <p:nvPr/>
        </p:nvSpPr>
        <p:spPr>
          <a:xfrm>
            <a:off x="4509950" y="1318787"/>
            <a:ext cx="1785257" cy="369332"/>
          </a:xfrm>
          <a:prstGeom prst="rect">
            <a:avLst/>
          </a:prstGeom>
          <a:noFill/>
        </p:spPr>
        <p:txBody>
          <a:bodyPr wrap="square" rtlCol="0">
            <a:spAutoFit/>
          </a:bodyPr>
          <a:lstStyle/>
          <a:p>
            <a:r>
              <a:rPr lang="en-US" dirty="0" smtClean="0"/>
              <a:t>offsets = </a:t>
            </a:r>
            <a:r>
              <a:rPr lang="en-US" dirty="0" smtClean="0"/>
              <a:t>2, 1</a:t>
            </a:r>
            <a:endParaRPr lang="en-US" dirty="0" smtClean="0"/>
          </a:p>
        </p:txBody>
      </p:sp>
      <p:sp>
        <p:nvSpPr>
          <p:cNvPr id="45" name="TextBox 44"/>
          <p:cNvSpPr txBox="1"/>
          <p:nvPr/>
        </p:nvSpPr>
        <p:spPr>
          <a:xfrm>
            <a:off x="5844537" y="1311984"/>
            <a:ext cx="1785257" cy="369332"/>
          </a:xfrm>
          <a:prstGeom prst="rect">
            <a:avLst/>
          </a:prstGeom>
          <a:noFill/>
        </p:spPr>
        <p:txBody>
          <a:bodyPr wrap="square" rtlCol="0">
            <a:spAutoFit/>
          </a:bodyPr>
          <a:lstStyle/>
          <a:p>
            <a:r>
              <a:rPr lang="en-US" dirty="0" smtClean="0"/>
              <a:t>counter = </a:t>
            </a:r>
            <a:r>
              <a:rPr lang="en-US" dirty="0" smtClean="0"/>
              <a:t>3</a:t>
            </a:r>
            <a:endParaRPr lang="en-US" dirty="0" smtClean="0"/>
          </a:p>
        </p:txBody>
      </p:sp>
      <p:sp>
        <p:nvSpPr>
          <p:cNvPr id="46" name="TextBox 45"/>
          <p:cNvSpPr txBox="1"/>
          <p:nvPr/>
        </p:nvSpPr>
        <p:spPr>
          <a:xfrm>
            <a:off x="7528559" y="4482739"/>
            <a:ext cx="609601" cy="369332"/>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dirty="0" smtClean="0"/>
              <a:t>c</a:t>
            </a:r>
            <a:endParaRPr lang="en-US" dirty="0"/>
          </a:p>
        </p:txBody>
      </p:sp>
      <p:sp>
        <p:nvSpPr>
          <p:cNvPr id="47" name="TextBox 46"/>
          <p:cNvSpPr txBox="1"/>
          <p:nvPr/>
        </p:nvSpPr>
        <p:spPr>
          <a:xfrm>
            <a:off x="4552676" y="5872112"/>
            <a:ext cx="609601" cy="369332"/>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dirty="0" smtClean="0"/>
              <a:t>b</a:t>
            </a:r>
            <a:endParaRPr lang="en-US" dirty="0"/>
          </a:p>
        </p:txBody>
      </p:sp>
      <p:sp>
        <p:nvSpPr>
          <p:cNvPr id="39" name="Cloud Callout 38"/>
          <p:cNvSpPr/>
          <p:nvPr/>
        </p:nvSpPr>
        <p:spPr>
          <a:xfrm>
            <a:off x="444136" y="2390870"/>
            <a:ext cx="2423161" cy="1434493"/>
          </a:xfrm>
          <a:prstGeom prst="cloudCallout">
            <a:avLst>
              <a:gd name="adj1" fmla="val -786"/>
              <a:gd name="adj2" fmla="val -88891"/>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smtClean="0"/>
              <a:t>Checkpoint in Zookeeper</a:t>
            </a:r>
            <a:endParaRPr lang="en-US" dirty="0"/>
          </a:p>
        </p:txBody>
      </p:sp>
      <p:sp>
        <p:nvSpPr>
          <p:cNvPr id="36" name="TextBox 35"/>
          <p:cNvSpPr txBox="1"/>
          <p:nvPr/>
        </p:nvSpPr>
        <p:spPr>
          <a:xfrm>
            <a:off x="444136" y="6143625"/>
            <a:ext cx="11176364" cy="646331"/>
          </a:xfrm>
          <a:prstGeom prst="rect">
            <a:avLst/>
          </a:prstGeom>
          <a:noFill/>
        </p:spPr>
        <p:txBody>
          <a:bodyPr wrap="square" rtlCol="0">
            <a:spAutoFit/>
          </a:bodyPr>
          <a:lstStyle/>
          <a:p>
            <a:r>
              <a:rPr lang="en-US" dirty="0" smtClean="0"/>
              <a:t>The checkpoint is now persisted in Zookeeper. External tools such as the Kafka Offset Checker can see the lag of the consumer group.</a:t>
            </a:r>
            <a:endParaRPr lang="en-US" dirty="0"/>
          </a:p>
        </p:txBody>
      </p:sp>
    </p:spTree>
    <p:extLst>
      <p:ext uri="{BB962C8B-B14F-4D97-AF65-F5344CB8AC3E}">
        <p14:creationId xmlns:p14="http://schemas.microsoft.com/office/powerpoint/2010/main" val="140113585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p:cNvGrpSpPr/>
          <p:nvPr/>
        </p:nvGrpSpPr>
        <p:grpSpPr>
          <a:xfrm>
            <a:off x="444136" y="4615543"/>
            <a:ext cx="2960916" cy="391886"/>
            <a:chOff x="905690" y="3614057"/>
            <a:chExt cx="2960916" cy="391886"/>
          </a:xfrm>
        </p:grpSpPr>
        <p:sp>
          <p:nvSpPr>
            <p:cNvPr id="5" name="Rectangle 4"/>
            <p:cNvSpPr/>
            <p:nvPr/>
          </p:nvSpPr>
          <p:spPr>
            <a:xfrm>
              <a:off x="905691" y="3614057"/>
              <a:ext cx="2960915" cy="39188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7" name="TextBox 6"/>
            <p:cNvSpPr txBox="1"/>
            <p:nvPr/>
          </p:nvSpPr>
          <p:spPr>
            <a:xfrm>
              <a:off x="905690" y="3636611"/>
              <a:ext cx="609601" cy="369332"/>
            </a:xfrm>
            <a:prstGeom prst="rect">
              <a:avLst/>
            </a:prstGeom>
            <a:noFill/>
          </p:spPr>
          <p:txBody>
            <a:bodyPr wrap="square" rtlCol="0">
              <a:spAutoFit/>
            </a:bodyPr>
            <a:lstStyle/>
            <a:p>
              <a:pPr algn="ctr"/>
              <a:r>
                <a:rPr lang="en-US" dirty="0" smtClean="0"/>
                <a:t>a</a:t>
              </a:r>
              <a:endParaRPr lang="en-US" dirty="0"/>
            </a:p>
          </p:txBody>
        </p:sp>
        <p:sp>
          <p:nvSpPr>
            <p:cNvPr id="8" name="TextBox 7"/>
            <p:cNvSpPr txBox="1"/>
            <p:nvPr/>
          </p:nvSpPr>
          <p:spPr>
            <a:xfrm>
              <a:off x="1473380" y="3636611"/>
              <a:ext cx="609601" cy="369332"/>
            </a:xfrm>
            <a:prstGeom prst="rect">
              <a:avLst/>
            </a:prstGeom>
            <a:noFill/>
          </p:spPr>
          <p:txBody>
            <a:bodyPr wrap="square" rtlCol="0">
              <a:spAutoFit/>
            </a:bodyPr>
            <a:lstStyle/>
            <a:p>
              <a:pPr algn="ctr"/>
              <a:r>
                <a:rPr lang="en-US" dirty="0"/>
                <a:t>b</a:t>
              </a:r>
            </a:p>
          </p:txBody>
        </p:sp>
        <p:sp>
          <p:nvSpPr>
            <p:cNvPr id="9" name="TextBox 8"/>
            <p:cNvSpPr txBox="1"/>
            <p:nvPr/>
          </p:nvSpPr>
          <p:spPr>
            <a:xfrm>
              <a:off x="2041070" y="3636611"/>
              <a:ext cx="609601" cy="369332"/>
            </a:xfrm>
            <a:prstGeom prst="rect">
              <a:avLst/>
            </a:prstGeom>
            <a:noFill/>
          </p:spPr>
          <p:txBody>
            <a:bodyPr wrap="square" rtlCol="0">
              <a:spAutoFit/>
            </a:bodyPr>
            <a:lstStyle/>
            <a:p>
              <a:pPr algn="ctr"/>
              <a:r>
                <a:rPr lang="en-US" dirty="0" smtClean="0"/>
                <a:t>c</a:t>
              </a:r>
              <a:endParaRPr lang="en-US" dirty="0"/>
            </a:p>
          </p:txBody>
        </p:sp>
        <p:sp>
          <p:nvSpPr>
            <p:cNvPr id="10" name="TextBox 9"/>
            <p:cNvSpPr txBox="1"/>
            <p:nvPr/>
          </p:nvSpPr>
          <p:spPr>
            <a:xfrm>
              <a:off x="2608760" y="3636611"/>
              <a:ext cx="609601" cy="369332"/>
            </a:xfrm>
            <a:prstGeom prst="rect">
              <a:avLst/>
            </a:prstGeom>
            <a:noFill/>
          </p:spPr>
          <p:txBody>
            <a:bodyPr wrap="square" rtlCol="0">
              <a:spAutoFit/>
            </a:bodyPr>
            <a:lstStyle/>
            <a:p>
              <a:pPr algn="ctr"/>
              <a:r>
                <a:rPr lang="en-US" dirty="0" smtClean="0"/>
                <a:t>d</a:t>
              </a:r>
              <a:endParaRPr lang="en-US" dirty="0"/>
            </a:p>
          </p:txBody>
        </p:sp>
        <p:sp>
          <p:nvSpPr>
            <p:cNvPr id="11" name="TextBox 10"/>
            <p:cNvSpPr txBox="1"/>
            <p:nvPr/>
          </p:nvSpPr>
          <p:spPr>
            <a:xfrm>
              <a:off x="3176451" y="3636611"/>
              <a:ext cx="609601" cy="369332"/>
            </a:xfrm>
            <a:prstGeom prst="rect">
              <a:avLst/>
            </a:prstGeom>
            <a:noFill/>
          </p:spPr>
          <p:txBody>
            <a:bodyPr wrap="square" rtlCol="0">
              <a:spAutoFit/>
            </a:bodyPr>
            <a:lstStyle/>
            <a:p>
              <a:pPr algn="ctr"/>
              <a:r>
                <a:rPr lang="en-US" dirty="0"/>
                <a:t>e</a:t>
              </a:r>
            </a:p>
          </p:txBody>
        </p:sp>
      </p:grpSp>
      <p:grpSp>
        <p:nvGrpSpPr>
          <p:cNvPr id="24" name="Group 23"/>
          <p:cNvGrpSpPr/>
          <p:nvPr/>
        </p:nvGrpSpPr>
        <p:grpSpPr>
          <a:xfrm>
            <a:off x="444136" y="5394960"/>
            <a:ext cx="2960916" cy="391886"/>
            <a:chOff x="1058090" y="3766457"/>
            <a:chExt cx="2960916" cy="391886"/>
          </a:xfrm>
        </p:grpSpPr>
        <p:sp>
          <p:nvSpPr>
            <p:cNvPr id="18" name="Rectangle 17"/>
            <p:cNvSpPr/>
            <p:nvPr/>
          </p:nvSpPr>
          <p:spPr>
            <a:xfrm>
              <a:off x="1058091" y="3766457"/>
              <a:ext cx="2960915" cy="39188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9" name="TextBox 18"/>
            <p:cNvSpPr txBox="1"/>
            <p:nvPr/>
          </p:nvSpPr>
          <p:spPr>
            <a:xfrm>
              <a:off x="1058090" y="3789011"/>
              <a:ext cx="609601" cy="369332"/>
            </a:xfrm>
            <a:prstGeom prst="rect">
              <a:avLst/>
            </a:prstGeom>
            <a:noFill/>
          </p:spPr>
          <p:txBody>
            <a:bodyPr wrap="square" rtlCol="0">
              <a:spAutoFit/>
            </a:bodyPr>
            <a:lstStyle/>
            <a:p>
              <a:pPr algn="ctr"/>
              <a:r>
                <a:rPr lang="en-US" dirty="0" smtClean="0"/>
                <a:t>a</a:t>
              </a:r>
              <a:endParaRPr lang="en-US" dirty="0"/>
            </a:p>
          </p:txBody>
        </p:sp>
        <p:sp>
          <p:nvSpPr>
            <p:cNvPr id="20" name="TextBox 19"/>
            <p:cNvSpPr txBox="1"/>
            <p:nvPr/>
          </p:nvSpPr>
          <p:spPr>
            <a:xfrm>
              <a:off x="1625780" y="3789011"/>
              <a:ext cx="609601" cy="369332"/>
            </a:xfrm>
            <a:prstGeom prst="rect">
              <a:avLst/>
            </a:prstGeom>
            <a:noFill/>
          </p:spPr>
          <p:txBody>
            <a:bodyPr wrap="square" rtlCol="0">
              <a:spAutoFit/>
            </a:bodyPr>
            <a:lstStyle/>
            <a:p>
              <a:pPr algn="ctr"/>
              <a:r>
                <a:rPr lang="en-US" dirty="0"/>
                <a:t>b</a:t>
              </a:r>
            </a:p>
          </p:txBody>
        </p:sp>
        <p:sp>
          <p:nvSpPr>
            <p:cNvPr id="21" name="TextBox 20"/>
            <p:cNvSpPr txBox="1"/>
            <p:nvPr/>
          </p:nvSpPr>
          <p:spPr>
            <a:xfrm>
              <a:off x="2193470" y="3789011"/>
              <a:ext cx="609601" cy="369332"/>
            </a:xfrm>
            <a:prstGeom prst="rect">
              <a:avLst/>
            </a:prstGeom>
            <a:noFill/>
          </p:spPr>
          <p:txBody>
            <a:bodyPr wrap="square" rtlCol="0">
              <a:spAutoFit/>
            </a:bodyPr>
            <a:lstStyle/>
            <a:p>
              <a:pPr algn="ctr"/>
              <a:r>
                <a:rPr lang="en-US" dirty="0" smtClean="0"/>
                <a:t>c</a:t>
              </a:r>
              <a:endParaRPr lang="en-US" dirty="0"/>
            </a:p>
          </p:txBody>
        </p:sp>
        <p:sp>
          <p:nvSpPr>
            <p:cNvPr id="22" name="TextBox 21"/>
            <p:cNvSpPr txBox="1"/>
            <p:nvPr/>
          </p:nvSpPr>
          <p:spPr>
            <a:xfrm>
              <a:off x="2761160" y="3789011"/>
              <a:ext cx="609601" cy="369332"/>
            </a:xfrm>
            <a:prstGeom prst="rect">
              <a:avLst/>
            </a:prstGeom>
            <a:noFill/>
          </p:spPr>
          <p:txBody>
            <a:bodyPr wrap="square" rtlCol="0">
              <a:spAutoFit/>
            </a:bodyPr>
            <a:lstStyle/>
            <a:p>
              <a:pPr algn="ctr"/>
              <a:r>
                <a:rPr lang="en-US" dirty="0" smtClean="0"/>
                <a:t>d</a:t>
              </a:r>
              <a:endParaRPr lang="en-US" dirty="0"/>
            </a:p>
          </p:txBody>
        </p:sp>
        <p:sp>
          <p:nvSpPr>
            <p:cNvPr id="23" name="TextBox 22"/>
            <p:cNvSpPr txBox="1"/>
            <p:nvPr/>
          </p:nvSpPr>
          <p:spPr>
            <a:xfrm>
              <a:off x="3328851" y="3789011"/>
              <a:ext cx="609601" cy="369332"/>
            </a:xfrm>
            <a:prstGeom prst="rect">
              <a:avLst/>
            </a:prstGeom>
            <a:noFill/>
          </p:spPr>
          <p:txBody>
            <a:bodyPr wrap="square" rtlCol="0">
              <a:spAutoFit/>
            </a:bodyPr>
            <a:lstStyle/>
            <a:p>
              <a:pPr algn="ctr"/>
              <a:r>
                <a:rPr lang="en-US" dirty="0"/>
                <a:t>e</a:t>
              </a:r>
            </a:p>
          </p:txBody>
        </p:sp>
      </p:grpSp>
      <p:sp>
        <p:nvSpPr>
          <p:cNvPr id="26" name="Rectangle 25"/>
          <p:cNvSpPr/>
          <p:nvPr/>
        </p:nvSpPr>
        <p:spPr>
          <a:xfrm>
            <a:off x="3762102" y="4615544"/>
            <a:ext cx="2386149" cy="3918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Flink</a:t>
            </a:r>
            <a:r>
              <a:rPr lang="en-US" dirty="0" smtClean="0"/>
              <a:t> Kafka Consumer</a:t>
            </a:r>
            <a:endParaRPr lang="en-US" dirty="0"/>
          </a:p>
        </p:txBody>
      </p:sp>
      <p:sp>
        <p:nvSpPr>
          <p:cNvPr id="27" name="Rectangle 26"/>
          <p:cNvSpPr/>
          <p:nvPr/>
        </p:nvSpPr>
        <p:spPr>
          <a:xfrm>
            <a:off x="3762102" y="5394960"/>
            <a:ext cx="2386149" cy="3918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Flink</a:t>
            </a:r>
            <a:r>
              <a:rPr lang="en-US" dirty="0" smtClean="0"/>
              <a:t> Kafka Consumer</a:t>
            </a:r>
            <a:endParaRPr lang="en-US" dirty="0"/>
          </a:p>
        </p:txBody>
      </p:sp>
      <p:sp>
        <p:nvSpPr>
          <p:cNvPr id="28" name="Rectangle 27"/>
          <p:cNvSpPr/>
          <p:nvPr/>
        </p:nvSpPr>
        <p:spPr>
          <a:xfrm>
            <a:off x="6737166" y="5007429"/>
            <a:ext cx="2386149" cy="3918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Flink</a:t>
            </a:r>
            <a:r>
              <a:rPr lang="en-US" dirty="0" smtClean="0"/>
              <a:t> Map Operator</a:t>
            </a:r>
            <a:endParaRPr lang="en-US" dirty="0"/>
          </a:p>
        </p:txBody>
      </p:sp>
      <p:cxnSp>
        <p:nvCxnSpPr>
          <p:cNvPr id="30" name="Straight Arrow Connector 29"/>
          <p:cNvCxnSpPr>
            <a:stCxn id="5" idx="3"/>
            <a:endCxn id="26" idx="1"/>
          </p:cNvCxnSpPr>
          <p:nvPr/>
        </p:nvCxnSpPr>
        <p:spPr>
          <a:xfrm>
            <a:off x="3405052" y="4811486"/>
            <a:ext cx="35705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18" idx="3"/>
            <a:endCxn id="27" idx="1"/>
          </p:cNvCxnSpPr>
          <p:nvPr/>
        </p:nvCxnSpPr>
        <p:spPr>
          <a:xfrm>
            <a:off x="3405052" y="5590903"/>
            <a:ext cx="3570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26" idx="3"/>
            <a:endCxn id="28" idx="1"/>
          </p:cNvCxnSpPr>
          <p:nvPr/>
        </p:nvCxnSpPr>
        <p:spPr>
          <a:xfrm>
            <a:off x="6148251" y="4811487"/>
            <a:ext cx="588915" cy="3918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27" idx="3"/>
            <a:endCxn id="28" idx="1"/>
          </p:cNvCxnSpPr>
          <p:nvPr/>
        </p:nvCxnSpPr>
        <p:spPr>
          <a:xfrm flipV="1">
            <a:off x="6148251" y="5203372"/>
            <a:ext cx="588915" cy="3875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7037611" y="3304596"/>
            <a:ext cx="1785257" cy="369332"/>
          </a:xfrm>
          <a:prstGeom prst="rect">
            <a:avLst/>
          </a:prstGeom>
          <a:noFill/>
        </p:spPr>
        <p:txBody>
          <a:bodyPr wrap="square" rtlCol="0">
            <a:spAutoFit/>
          </a:bodyPr>
          <a:lstStyle/>
          <a:p>
            <a:r>
              <a:rPr lang="en-US" dirty="0" smtClean="0"/>
              <a:t>counter = </a:t>
            </a:r>
            <a:r>
              <a:rPr lang="en-US" dirty="0" smtClean="0"/>
              <a:t>5</a:t>
            </a:r>
            <a:endParaRPr lang="en-US" dirty="0" smtClean="0"/>
          </a:p>
        </p:txBody>
      </p:sp>
      <p:cxnSp>
        <p:nvCxnSpPr>
          <p:cNvPr id="43" name="Straight Connector 42"/>
          <p:cNvCxnSpPr/>
          <p:nvPr/>
        </p:nvCxnSpPr>
        <p:spPr>
          <a:xfrm>
            <a:off x="2738028" y="4480952"/>
            <a:ext cx="0" cy="683622"/>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44" name="Straight Connector 43"/>
          <p:cNvCxnSpPr/>
          <p:nvPr/>
        </p:nvCxnSpPr>
        <p:spPr>
          <a:xfrm>
            <a:off x="1621427" y="5249092"/>
            <a:ext cx="0" cy="683622"/>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31" name="Rectangle 30"/>
          <p:cNvSpPr/>
          <p:nvPr/>
        </p:nvSpPr>
        <p:spPr>
          <a:xfrm>
            <a:off x="386442" y="772887"/>
            <a:ext cx="2328456" cy="12409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b="1" u="sng" dirty="0" smtClean="0"/>
              <a:t>Zookeeper</a:t>
            </a:r>
          </a:p>
          <a:p>
            <a:r>
              <a:rPr lang="en-US" dirty="0" smtClean="0"/>
              <a:t>offset partition 0: </a:t>
            </a:r>
            <a:r>
              <a:rPr lang="en-US" dirty="0" smtClean="0"/>
              <a:t>2</a:t>
            </a:r>
            <a:endParaRPr lang="en-US" dirty="0" smtClean="0"/>
          </a:p>
          <a:p>
            <a:r>
              <a:rPr lang="en-US" dirty="0" smtClean="0"/>
              <a:t>offset partition 1: </a:t>
            </a:r>
            <a:r>
              <a:rPr lang="en-US" dirty="0" smtClean="0"/>
              <a:t>1</a:t>
            </a:r>
            <a:endParaRPr lang="en-US" dirty="0"/>
          </a:p>
        </p:txBody>
      </p:sp>
      <p:sp>
        <p:nvSpPr>
          <p:cNvPr id="2" name="Rectangle 1"/>
          <p:cNvSpPr/>
          <p:nvPr/>
        </p:nvSpPr>
        <p:spPr>
          <a:xfrm>
            <a:off x="3324498" y="772887"/>
            <a:ext cx="4295502" cy="17634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b="1" u="sng" dirty="0" err="1" smtClean="0"/>
              <a:t>Flink</a:t>
            </a:r>
            <a:r>
              <a:rPr lang="en-US" b="1" u="sng" dirty="0" smtClean="0"/>
              <a:t> Checkpoint Coordinator</a:t>
            </a:r>
          </a:p>
          <a:p>
            <a:r>
              <a:rPr lang="en-US" dirty="0" smtClean="0"/>
              <a:t>Pending:</a:t>
            </a:r>
          </a:p>
          <a:p>
            <a:r>
              <a:rPr lang="en-US" dirty="0" smtClean="0"/>
              <a:t>Completed: </a:t>
            </a:r>
            <a:endParaRPr lang="en-US" dirty="0"/>
          </a:p>
        </p:txBody>
      </p:sp>
      <p:sp>
        <p:nvSpPr>
          <p:cNvPr id="33" name="TextBox 32"/>
          <p:cNvSpPr txBox="1"/>
          <p:nvPr/>
        </p:nvSpPr>
        <p:spPr>
          <a:xfrm>
            <a:off x="3686992" y="3304596"/>
            <a:ext cx="1785257" cy="369332"/>
          </a:xfrm>
          <a:prstGeom prst="rect">
            <a:avLst/>
          </a:prstGeom>
          <a:noFill/>
        </p:spPr>
        <p:txBody>
          <a:bodyPr wrap="square" rtlCol="0">
            <a:spAutoFit/>
          </a:bodyPr>
          <a:lstStyle/>
          <a:p>
            <a:r>
              <a:rPr lang="en-US" dirty="0" smtClean="0"/>
              <a:t>offsets = </a:t>
            </a:r>
            <a:r>
              <a:rPr lang="en-US" dirty="0" smtClean="0"/>
              <a:t>4, 2</a:t>
            </a:r>
            <a:endParaRPr lang="en-US" dirty="0" smtClean="0"/>
          </a:p>
        </p:txBody>
      </p:sp>
      <p:sp>
        <p:nvSpPr>
          <p:cNvPr id="37" name="TextBox 36"/>
          <p:cNvSpPr txBox="1"/>
          <p:nvPr/>
        </p:nvSpPr>
        <p:spPr>
          <a:xfrm>
            <a:off x="4509950" y="1318787"/>
            <a:ext cx="1785257" cy="369332"/>
          </a:xfrm>
          <a:prstGeom prst="rect">
            <a:avLst/>
          </a:prstGeom>
          <a:noFill/>
        </p:spPr>
        <p:txBody>
          <a:bodyPr wrap="square" rtlCol="0">
            <a:spAutoFit/>
          </a:bodyPr>
          <a:lstStyle/>
          <a:p>
            <a:r>
              <a:rPr lang="en-US" dirty="0" smtClean="0"/>
              <a:t>offsets = </a:t>
            </a:r>
            <a:r>
              <a:rPr lang="en-US" dirty="0" smtClean="0"/>
              <a:t>2, 1</a:t>
            </a:r>
            <a:endParaRPr lang="en-US" dirty="0" smtClean="0"/>
          </a:p>
        </p:txBody>
      </p:sp>
      <p:sp>
        <p:nvSpPr>
          <p:cNvPr id="45" name="TextBox 44"/>
          <p:cNvSpPr txBox="1"/>
          <p:nvPr/>
        </p:nvSpPr>
        <p:spPr>
          <a:xfrm>
            <a:off x="5844537" y="1311984"/>
            <a:ext cx="1785257" cy="369332"/>
          </a:xfrm>
          <a:prstGeom prst="rect">
            <a:avLst/>
          </a:prstGeom>
          <a:noFill/>
        </p:spPr>
        <p:txBody>
          <a:bodyPr wrap="square" rtlCol="0">
            <a:spAutoFit/>
          </a:bodyPr>
          <a:lstStyle/>
          <a:p>
            <a:r>
              <a:rPr lang="en-US" dirty="0" smtClean="0"/>
              <a:t>counter = </a:t>
            </a:r>
            <a:r>
              <a:rPr lang="en-US" dirty="0" smtClean="0"/>
              <a:t>3</a:t>
            </a:r>
            <a:endParaRPr lang="en-US" dirty="0" smtClean="0"/>
          </a:p>
        </p:txBody>
      </p:sp>
      <p:sp>
        <p:nvSpPr>
          <p:cNvPr id="46" name="TextBox 45"/>
          <p:cNvSpPr txBox="1"/>
          <p:nvPr/>
        </p:nvSpPr>
        <p:spPr>
          <a:xfrm>
            <a:off x="10149295" y="4965793"/>
            <a:ext cx="609601" cy="369332"/>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dirty="0" smtClean="0"/>
              <a:t>c</a:t>
            </a:r>
            <a:endParaRPr lang="en-US" dirty="0"/>
          </a:p>
        </p:txBody>
      </p:sp>
      <p:sp>
        <p:nvSpPr>
          <p:cNvPr id="47" name="TextBox 46"/>
          <p:cNvSpPr txBox="1"/>
          <p:nvPr/>
        </p:nvSpPr>
        <p:spPr>
          <a:xfrm>
            <a:off x="7612651" y="5602180"/>
            <a:ext cx="609601" cy="369332"/>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dirty="0" smtClean="0"/>
              <a:t>b</a:t>
            </a:r>
            <a:endParaRPr lang="en-US" dirty="0"/>
          </a:p>
        </p:txBody>
      </p:sp>
      <p:sp>
        <p:nvSpPr>
          <p:cNvPr id="36" name="TextBox 35"/>
          <p:cNvSpPr txBox="1"/>
          <p:nvPr/>
        </p:nvSpPr>
        <p:spPr>
          <a:xfrm>
            <a:off x="4509950" y="4050270"/>
            <a:ext cx="609601" cy="369332"/>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dirty="0" smtClean="0"/>
              <a:t>d</a:t>
            </a:r>
            <a:endParaRPr lang="en-US" dirty="0"/>
          </a:p>
        </p:txBody>
      </p:sp>
      <p:sp>
        <p:nvSpPr>
          <p:cNvPr id="41" name="TextBox 40"/>
          <p:cNvSpPr txBox="1"/>
          <p:nvPr/>
        </p:nvSpPr>
        <p:spPr>
          <a:xfrm>
            <a:off x="444136" y="6143625"/>
            <a:ext cx="11176364" cy="369332"/>
          </a:xfrm>
          <a:prstGeom prst="rect">
            <a:avLst/>
          </a:prstGeom>
          <a:noFill/>
        </p:spPr>
        <p:txBody>
          <a:bodyPr wrap="square" rtlCol="0">
            <a:spAutoFit/>
          </a:bodyPr>
          <a:lstStyle/>
          <a:p>
            <a:r>
              <a:rPr lang="en-US" dirty="0" smtClean="0"/>
              <a:t>The processing further advances</a:t>
            </a:r>
            <a:endParaRPr lang="en-US" dirty="0"/>
          </a:p>
        </p:txBody>
      </p:sp>
    </p:spTree>
    <p:extLst>
      <p:ext uri="{BB962C8B-B14F-4D97-AF65-F5344CB8AC3E}">
        <p14:creationId xmlns:p14="http://schemas.microsoft.com/office/powerpoint/2010/main" val="174144920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p:cNvGrpSpPr/>
          <p:nvPr/>
        </p:nvGrpSpPr>
        <p:grpSpPr>
          <a:xfrm>
            <a:off x="444136" y="4615543"/>
            <a:ext cx="2960916" cy="391886"/>
            <a:chOff x="905690" y="3614057"/>
            <a:chExt cx="2960916" cy="391886"/>
          </a:xfrm>
        </p:grpSpPr>
        <p:sp>
          <p:nvSpPr>
            <p:cNvPr id="5" name="Rectangle 4"/>
            <p:cNvSpPr/>
            <p:nvPr/>
          </p:nvSpPr>
          <p:spPr>
            <a:xfrm>
              <a:off x="905691" y="3614057"/>
              <a:ext cx="2960915" cy="39188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7" name="TextBox 6"/>
            <p:cNvSpPr txBox="1"/>
            <p:nvPr/>
          </p:nvSpPr>
          <p:spPr>
            <a:xfrm>
              <a:off x="905690" y="3636611"/>
              <a:ext cx="609601" cy="369332"/>
            </a:xfrm>
            <a:prstGeom prst="rect">
              <a:avLst/>
            </a:prstGeom>
            <a:noFill/>
          </p:spPr>
          <p:txBody>
            <a:bodyPr wrap="square" rtlCol="0">
              <a:spAutoFit/>
            </a:bodyPr>
            <a:lstStyle/>
            <a:p>
              <a:pPr algn="ctr"/>
              <a:r>
                <a:rPr lang="en-US" dirty="0" smtClean="0"/>
                <a:t>a</a:t>
              </a:r>
              <a:endParaRPr lang="en-US" dirty="0"/>
            </a:p>
          </p:txBody>
        </p:sp>
        <p:sp>
          <p:nvSpPr>
            <p:cNvPr id="8" name="TextBox 7"/>
            <p:cNvSpPr txBox="1"/>
            <p:nvPr/>
          </p:nvSpPr>
          <p:spPr>
            <a:xfrm>
              <a:off x="1473380" y="3636611"/>
              <a:ext cx="609601" cy="369332"/>
            </a:xfrm>
            <a:prstGeom prst="rect">
              <a:avLst/>
            </a:prstGeom>
            <a:noFill/>
          </p:spPr>
          <p:txBody>
            <a:bodyPr wrap="square" rtlCol="0">
              <a:spAutoFit/>
            </a:bodyPr>
            <a:lstStyle/>
            <a:p>
              <a:pPr algn="ctr"/>
              <a:r>
                <a:rPr lang="en-US" dirty="0"/>
                <a:t>b</a:t>
              </a:r>
            </a:p>
          </p:txBody>
        </p:sp>
        <p:sp>
          <p:nvSpPr>
            <p:cNvPr id="9" name="TextBox 8"/>
            <p:cNvSpPr txBox="1"/>
            <p:nvPr/>
          </p:nvSpPr>
          <p:spPr>
            <a:xfrm>
              <a:off x="2041070" y="3636611"/>
              <a:ext cx="609601" cy="369332"/>
            </a:xfrm>
            <a:prstGeom prst="rect">
              <a:avLst/>
            </a:prstGeom>
            <a:noFill/>
          </p:spPr>
          <p:txBody>
            <a:bodyPr wrap="square" rtlCol="0">
              <a:spAutoFit/>
            </a:bodyPr>
            <a:lstStyle/>
            <a:p>
              <a:pPr algn="ctr"/>
              <a:r>
                <a:rPr lang="en-US" dirty="0" smtClean="0"/>
                <a:t>c</a:t>
              </a:r>
              <a:endParaRPr lang="en-US" dirty="0"/>
            </a:p>
          </p:txBody>
        </p:sp>
        <p:sp>
          <p:nvSpPr>
            <p:cNvPr id="10" name="TextBox 9"/>
            <p:cNvSpPr txBox="1"/>
            <p:nvPr/>
          </p:nvSpPr>
          <p:spPr>
            <a:xfrm>
              <a:off x="2608760" y="3636611"/>
              <a:ext cx="609601" cy="369332"/>
            </a:xfrm>
            <a:prstGeom prst="rect">
              <a:avLst/>
            </a:prstGeom>
            <a:noFill/>
          </p:spPr>
          <p:txBody>
            <a:bodyPr wrap="square" rtlCol="0">
              <a:spAutoFit/>
            </a:bodyPr>
            <a:lstStyle/>
            <a:p>
              <a:pPr algn="ctr"/>
              <a:r>
                <a:rPr lang="en-US" dirty="0" smtClean="0"/>
                <a:t>d</a:t>
              </a:r>
              <a:endParaRPr lang="en-US" dirty="0"/>
            </a:p>
          </p:txBody>
        </p:sp>
        <p:sp>
          <p:nvSpPr>
            <p:cNvPr id="11" name="TextBox 10"/>
            <p:cNvSpPr txBox="1"/>
            <p:nvPr/>
          </p:nvSpPr>
          <p:spPr>
            <a:xfrm>
              <a:off x="3176451" y="3636611"/>
              <a:ext cx="609601" cy="369332"/>
            </a:xfrm>
            <a:prstGeom prst="rect">
              <a:avLst/>
            </a:prstGeom>
            <a:noFill/>
          </p:spPr>
          <p:txBody>
            <a:bodyPr wrap="square" rtlCol="0">
              <a:spAutoFit/>
            </a:bodyPr>
            <a:lstStyle/>
            <a:p>
              <a:pPr algn="ctr"/>
              <a:r>
                <a:rPr lang="en-US" dirty="0"/>
                <a:t>e</a:t>
              </a:r>
            </a:p>
          </p:txBody>
        </p:sp>
      </p:grpSp>
      <p:grpSp>
        <p:nvGrpSpPr>
          <p:cNvPr id="24" name="Group 23"/>
          <p:cNvGrpSpPr/>
          <p:nvPr/>
        </p:nvGrpSpPr>
        <p:grpSpPr>
          <a:xfrm>
            <a:off x="444136" y="5394960"/>
            <a:ext cx="2960916" cy="391886"/>
            <a:chOff x="1058090" y="3766457"/>
            <a:chExt cx="2960916" cy="391886"/>
          </a:xfrm>
        </p:grpSpPr>
        <p:sp>
          <p:nvSpPr>
            <p:cNvPr id="18" name="Rectangle 17"/>
            <p:cNvSpPr/>
            <p:nvPr/>
          </p:nvSpPr>
          <p:spPr>
            <a:xfrm>
              <a:off x="1058091" y="3766457"/>
              <a:ext cx="2960915" cy="39188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9" name="TextBox 18"/>
            <p:cNvSpPr txBox="1"/>
            <p:nvPr/>
          </p:nvSpPr>
          <p:spPr>
            <a:xfrm>
              <a:off x="1058090" y="3789011"/>
              <a:ext cx="609601" cy="369332"/>
            </a:xfrm>
            <a:prstGeom prst="rect">
              <a:avLst/>
            </a:prstGeom>
            <a:noFill/>
          </p:spPr>
          <p:txBody>
            <a:bodyPr wrap="square" rtlCol="0">
              <a:spAutoFit/>
            </a:bodyPr>
            <a:lstStyle/>
            <a:p>
              <a:pPr algn="ctr"/>
              <a:r>
                <a:rPr lang="en-US" dirty="0" smtClean="0"/>
                <a:t>a</a:t>
              </a:r>
              <a:endParaRPr lang="en-US" dirty="0"/>
            </a:p>
          </p:txBody>
        </p:sp>
        <p:sp>
          <p:nvSpPr>
            <p:cNvPr id="20" name="TextBox 19"/>
            <p:cNvSpPr txBox="1"/>
            <p:nvPr/>
          </p:nvSpPr>
          <p:spPr>
            <a:xfrm>
              <a:off x="1625780" y="3789011"/>
              <a:ext cx="609601" cy="369332"/>
            </a:xfrm>
            <a:prstGeom prst="rect">
              <a:avLst/>
            </a:prstGeom>
            <a:noFill/>
          </p:spPr>
          <p:txBody>
            <a:bodyPr wrap="square" rtlCol="0">
              <a:spAutoFit/>
            </a:bodyPr>
            <a:lstStyle/>
            <a:p>
              <a:pPr algn="ctr"/>
              <a:r>
                <a:rPr lang="en-US" dirty="0"/>
                <a:t>b</a:t>
              </a:r>
            </a:p>
          </p:txBody>
        </p:sp>
        <p:sp>
          <p:nvSpPr>
            <p:cNvPr id="21" name="TextBox 20"/>
            <p:cNvSpPr txBox="1"/>
            <p:nvPr/>
          </p:nvSpPr>
          <p:spPr>
            <a:xfrm>
              <a:off x="2193470" y="3789011"/>
              <a:ext cx="609601" cy="369332"/>
            </a:xfrm>
            <a:prstGeom prst="rect">
              <a:avLst/>
            </a:prstGeom>
            <a:noFill/>
          </p:spPr>
          <p:txBody>
            <a:bodyPr wrap="square" rtlCol="0">
              <a:spAutoFit/>
            </a:bodyPr>
            <a:lstStyle/>
            <a:p>
              <a:pPr algn="ctr"/>
              <a:r>
                <a:rPr lang="en-US" dirty="0" smtClean="0"/>
                <a:t>c</a:t>
              </a:r>
              <a:endParaRPr lang="en-US" dirty="0"/>
            </a:p>
          </p:txBody>
        </p:sp>
        <p:sp>
          <p:nvSpPr>
            <p:cNvPr id="22" name="TextBox 21"/>
            <p:cNvSpPr txBox="1"/>
            <p:nvPr/>
          </p:nvSpPr>
          <p:spPr>
            <a:xfrm>
              <a:off x="2761160" y="3789011"/>
              <a:ext cx="609601" cy="369332"/>
            </a:xfrm>
            <a:prstGeom prst="rect">
              <a:avLst/>
            </a:prstGeom>
            <a:noFill/>
          </p:spPr>
          <p:txBody>
            <a:bodyPr wrap="square" rtlCol="0">
              <a:spAutoFit/>
            </a:bodyPr>
            <a:lstStyle/>
            <a:p>
              <a:pPr algn="ctr"/>
              <a:r>
                <a:rPr lang="en-US" dirty="0" smtClean="0"/>
                <a:t>d</a:t>
              </a:r>
              <a:endParaRPr lang="en-US" dirty="0"/>
            </a:p>
          </p:txBody>
        </p:sp>
        <p:sp>
          <p:nvSpPr>
            <p:cNvPr id="23" name="TextBox 22"/>
            <p:cNvSpPr txBox="1"/>
            <p:nvPr/>
          </p:nvSpPr>
          <p:spPr>
            <a:xfrm>
              <a:off x="3328851" y="3789011"/>
              <a:ext cx="609601" cy="369332"/>
            </a:xfrm>
            <a:prstGeom prst="rect">
              <a:avLst/>
            </a:prstGeom>
            <a:noFill/>
          </p:spPr>
          <p:txBody>
            <a:bodyPr wrap="square" rtlCol="0">
              <a:spAutoFit/>
            </a:bodyPr>
            <a:lstStyle/>
            <a:p>
              <a:pPr algn="ctr"/>
              <a:r>
                <a:rPr lang="en-US" dirty="0"/>
                <a:t>e</a:t>
              </a:r>
            </a:p>
          </p:txBody>
        </p:sp>
      </p:grpSp>
      <p:sp>
        <p:nvSpPr>
          <p:cNvPr id="26" name="Rectangle 25"/>
          <p:cNvSpPr/>
          <p:nvPr/>
        </p:nvSpPr>
        <p:spPr>
          <a:xfrm>
            <a:off x="3762102" y="4615544"/>
            <a:ext cx="2386149" cy="3918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Flink</a:t>
            </a:r>
            <a:r>
              <a:rPr lang="en-US" dirty="0" smtClean="0"/>
              <a:t> Kafka Consumer</a:t>
            </a:r>
            <a:endParaRPr lang="en-US" dirty="0"/>
          </a:p>
        </p:txBody>
      </p:sp>
      <p:sp>
        <p:nvSpPr>
          <p:cNvPr id="27" name="Rectangle 26"/>
          <p:cNvSpPr/>
          <p:nvPr/>
        </p:nvSpPr>
        <p:spPr>
          <a:xfrm>
            <a:off x="3762102" y="5394960"/>
            <a:ext cx="2386149" cy="3918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Flink</a:t>
            </a:r>
            <a:r>
              <a:rPr lang="en-US" dirty="0" smtClean="0"/>
              <a:t> Kafka Consumer</a:t>
            </a:r>
            <a:endParaRPr lang="en-US" dirty="0"/>
          </a:p>
        </p:txBody>
      </p:sp>
      <p:sp>
        <p:nvSpPr>
          <p:cNvPr id="28" name="Rectangle 27"/>
          <p:cNvSpPr/>
          <p:nvPr/>
        </p:nvSpPr>
        <p:spPr>
          <a:xfrm>
            <a:off x="6737166" y="5007429"/>
            <a:ext cx="2386149" cy="3918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Flink</a:t>
            </a:r>
            <a:r>
              <a:rPr lang="en-US" dirty="0" smtClean="0"/>
              <a:t> Map Operator</a:t>
            </a:r>
            <a:endParaRPr lang="en-US" dirty="0"/>
          </a:p>
        </p:txBody>
      </p:sp>
      <p:cxnSp>
        <p:nvCxnSpPr>
          <p:cNvPr id="30" name="Straight Arrow Connector 29"/>
          <p:cNvCxnSpPr>
            <a:stCxn id="5" idx="3"/>
            <a:endCxn id="26" idx="1"/>
          </p:cNvCxnSpPr>
          <p:nvPr/>
        </p:nvCxnSpPr>
        <p:spPr>
          <a:xfrm>
            <a:off x="3405052" y="4811486"/>
            <a:ext cx="35705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18" idx="3"/>
            <a:endCxn id="27" idx="1"/>
          </p:cNvCxnSpPr>
          <p:nvPr/>
        </p:nvCxnSpPr>
        <p:spPr>
          <a:xfrm>
            <a:off x="3405052" y="5590903"/>
            <a:ext cx="3570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26" idx="3"/>
            <a:endCxn id="28" idx="1"/>
          </p:cNvCxnSpPr>
          <p:nvPr/>
        </p:nvCxnSpPr>
        <p:spPr>
          <a:xfrm>
            <a:off x="6148251" y="4811487"/>
            <a:ext cx="588915" cy="3918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27" idx="3"/>
            <a:endCxn id="28" idx="1"/>
          </p:cNvCxnSpPr>
          <p:nvPr/>
        </p:nvCxnSpPr>
        <p:spPr>
          <a:xfrm flipV="1">
            <a:off x="6148251" y="5203372"/>
            <a:ext cx="588915" cy="3875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7037611" y="3304596"/>
            <a:ext cx="1785257" cy="369332"/>
          </a:xfrm>
          <a:prstGeom prst="rect">
            <a:avLst/>
          </a:prstGeom>
          <a:noFill/>
        </p:spPr>
        <p:txBody>
          <a:bodyPr wrap="square" rtlCol="0">
            <a:spAutoFit/>
          </a:bodyPr>
          <a:lstStyle/>
          <a:p>
            <a:r>
              <a:rPr lang="en-US" dirty="0" smtClean="0"/>
              <a:t>counter = </a:t>
            </a:r>
            <a:r>
              <a:rPr lang="en-US" dirty="0" smtClean="0"/>
              <a:t>5</a:t>
            </a:r>
            <a:endParaRPr lang="en-US" dirty="0" smtClean="0"/>
          </a:p>
        </p:txBody>
      </p:sp>
      <p:cxnSp>
        <p:nvCxnSpPr>
          <p:cNvPr id="43" name="Straight Connector 42"/>
          <p:cNvCxnSpPr/>
          <p:nvPr/>
        </p:nvCxnSpPr>
        <p:spPr>
          <a:xfrm>
            <a:off x="2738028" y="4480952"/>
            <a:ext cx="0" cy="683622"/>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44" name="Straight Connector 43"/>
          <p:cNvCxnSpPr/>
          <p:nvPr/>
        </p:nvCxnSpPr>
        <p:spPr>
          <a:xfrm>
            <a:off x="1621427" y="5249092"/>
            <a:ext cx="0" cy="683622"/>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31" name="Rectangle 30"/>
          <p:cNvSpPr/>
          <p:nvPr/>
        </p:nvSpPr>
        <p:spPr>
          <a:xfrm>
            <a:off x="386442" y="772887"/>
            <a:ext cx="2328456" cy="12409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b="1" u="sng" dirty="0" smtClean="0"/>
              <a:t>Zookeeper</a:t>
            </a:r>
          </a:p>
          <a:p>
            <a:r>
              <a:rPr lang="en-US" dirty="0" smtClean="0"/>
              <a:t>offset partition 0: </a:t>
            </a:r>
            <a:r>
              <a:rPr lang="en-US" dirty="0" smtClean="0"/>
              <a:t>2</a:t>
            </a:r>
            <a:endParaRPr lang="en-US" dirty="0" smtClean="0"/>
          </a:p>
          <a:p>
            <a:r>
              <a:rPr lang="en-US" dirty="0" smtClean="0"/>
              <a:t>offset partition 1: </a:t>
            </a:r>
            <a:r>
              <a:rPr lang="en-US" dirty="0" smtClean="0"/>
              <a:t>1</a:t>
            </a:r>
            <a:endParaRPr lang="en-US" dirty="0"/>
          </a:p>
        </p:txBody>
      </p:sp>
      <p:sp>
        <p:nvSpPr>
          <p:cNvPr id="2" name="Rectangle 1"/>
          <p:cNvSpPr/>
          <p:nvPr/>
        </p:nvSpPr>
        <p:spPr>
          <a:xfrm>
            <a:off x="3324498" y="772887"/>
            <a:ext cx="4295502" cy="17634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b="1" u="sng" dirty="0" err="1" smtClean="0"/>
              <a:t>Flink</a:t>
            </a:r>
            <a:r>
              <a:rPr lang="en-US" b="1" u="sng" dirty="0" smtClean="0"/>
              <a:t> Checkpoint Coordinator</a:t>
            </a:r>
          </a:p>
          <a:p>
            <a:r>
              <a:rPr lang="en-US" dirty="0" smtClean="0"/>
              <a:t>Pending:</a:t>
            </a:r>
          </a:p>
          <a:p>
            <a:r>
              <a:rPr lang="en-US" dirty="0" smtClean="0"/>
              <a:t>Completed: </a:t>
            </a:r>
            <a:endParaRPr lang="en-US" dirty="0"/>
          </a:p>
        </p:txBody>
      </p:sp>
      <p:sp>
        <p:nvSpPr>
          <p:cNvPr id="33" name="TextBox 32"/>
          <p:cNvSpPr txBox="1"/>
          <p:nvPr/>
        </p:nvSpPr>
        <p:spPr>
          <a:xfrm>
            <a:off x="3686992" y="3304596"/>
            <a:ext cx="1785257" cy="369332"/>
          </a:xfrm>
          <a:prstGeom prst="rect">
            <a:avLst/>
          </a:prstGeom>
          <a:noFill/>
        </p:spPr>
        <p:txBody>
          <a:bodyPr wrap="square" rtlCol="0">
            <a:spAutoFit/>
          </a:bodyPr>
          <a:lstStyle/>
          <a:p>
            <a:r>
              <a:rPr lang="en-US" dirty="0" smtClean="0"/>
              <a:t>offsets = </a:t>
            </a:r>
            <a:r>
              <a:rPr lang="en-US" dirty="0" smtClean="0"/>
              <a:t>4, 2</a:t>
            </a:r>
            <a:endParaRPr lang="en-US" dirty="0" smtClean="0"/>
          </a:p>
        </p:txBody>
      </p:sp>
      <p:sp>
        <p:nvSpPr>
          <p:cNvPr id="37" name="TextBox 36"/>
          <p:cNvSpPr txBox="1"/>
          <p:nvPr/>
        </p:nvSpPr>
        <p:spPr>
          <a:xfrm>
            <a:off x="4509950" y="1318787"/>
            <a:ext cx="1785257" cy="369332"/>
          </a:xfrm>
          <a:prstGeom prst="rect">
            <a:avLst/>
          </a:prstGeom>
          <a:noFill/>
        </p:spPr>
        <p:txBody>
          <a:bodyPr wrap="square" rtlCol="0">
            <a:spAutoFit/>
          </a:bodyPr>
          <a:lstStyle/>
          <a:p>
            <a:r>
              <a:rPr lang="en-US" dirty="0" smtClean="0"/>
              <a:t>offsets = </a:t>
            </a:r>
            <a:r>
              <a:rPr lang="en-US" dirty="0" smtClean="0"/>
              <a:t>2, 1</a:t>
            </a:r>
            <a:endParaRPr lang="en-US" dirty="0" smtClean="0"/>
          </a:p>
        </p:txBody>
      </p:sp>
      <p:sp>
        <p:nvSpPr>
          <p:cNvPr id="45" name="TextBox 44"/>
          <p:cNvSpPr txBox="1"/>
          <p:nvPr/>
        </p:nvSpPr>
        <p:spPr>
          <a:xfrm>
            <a:off x="5844537" y="1311984"/>
            <a:ext cx="1785257" cy="369332"/>
          </a:xfrm>
          <a:prstGeom prst="rect">
            <a:avLst/>
          </a:prstGeom>
          <a:noFill/>
        </p:spPr>
        <p:txBody>
          <a:bodyPr wrap="square" rtlCol="0">
            <a:spAutoFit/>
          </a:bodyPr>
          <a:lstStyle/>
          <a:p>
            <a:r>
              <a:rPr lang="en-US" dirty="0" smtClean="0"/>
              <a:t>counter = </a:t>
            </a:r>
            <a:r>
              <a:rPr lang="en-US" dirty="0" smtClean="0"/>
              <a:t>3</a:t>
            </a:r>
            <a:endParaRPr lang="en-US" dirty="0" smtClean="0"/>
          </a:p>
        </p:txBody>
      </p:sp>
      <p:sp>
        <p:nvSpPr>
          <p:cNvPr id="46" name="TextBox 45"/>
          <p:cNvSpPr txBox="1"/>
          <p:nvPr/>
        </p:nvSpPr>
        <p:spPr>
          <a:xfrm>
            <a:off x="10149295" y="4965793"/>
            <a:ext cx="609601" cy="369332"/>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dirty="0" smtClean="0"/>
              <a:t>c</a:t>
            </a:r>
            <a:endParaRPr lang="en-US" dirty="0"/>
          </a:p>
        </p:txBody>
      </p:sp>
      <p:sp>
        <p:nvSpPr>
          <p:cNvPr id="47" name="TextBox 46"/>
          <p:cNvSpPr txBox="1"/>
          <p:nvPr/>
        </p:nvSpPr>
        <p:spPr>
          <a:xfrm>
            <a:off x="7612651" y="5602180"/>
            <a:ext cx="609601" cy="369332"/>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dirty="0" smtClean="0"/>
              <a:t>b</a:t>
            </a:r>
            <a:endParaRPr lang="en-US" dirty="0"/>
          </a:p>
        </p:txBody>
      </p:sp>
      <p:sp>
        <p:nvSpPr>
          <p:cNvPr id="36" name="TextBox 35"/>
          <p:cNvSpPr txBox="1"/>
          <p:nvPr/>
        </p:nvSpPr>
        <p:spPr>
          <a:xfrm>
            <a:off x="4509950" y="4050270"/>
            <a:ext cx="609601" cy="369332"/>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dirty="0" smtClean="0"/>
              <a:t>d</a:t>
            </a:r>
            <a:endParaRPr lang="en-US" dirty="0"/>
          </a:p>
        </p:txBody>
      </p:sp>
      <p:sp>
        <p:nvSpPr>
          <p:cNvPr id="35" name="Cloud Callout 34"/>
          <p:cNvSpPr/>
          <p:nvPr/>
        </p:nvSpPr>
        <p:spPr>
          <a:xfrm>
            <a:off x="2499089" y="2075649"/>
            <a:ext cx="6204314" cy="3054165"/>
          </a:xfrm>
          <a:prstGeom prst="cloudCallout">
            <a:avLst>
              <a:gd name="adj1" fmla="val 23163"/>
              <a:gd name="adj2" fmla="val -12483"/>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8000" dirty="0" smtClean="0"/>
              <a:t>Failure</a:t>
            </a:r>
            <a:endParaRPr lang="en-US" sz="8000" dirty="0"/>
          </a:p>
        </p:txBody>
      </p:sp>
      <p:sp>
        <p:nvSpPr>
          <p:cNvPr id="39" name="TextBox 38"/>
          <p:cNvSpPr txBox="1"/>
          <p:nvPr/>
        </p:nvSpPr>
        <p:spPr>
          <a:xfrm>
            <a:off x="444136" y="6143625"/>
            <a:ext cx="11176364" cy="369332"/>
          </a:xfrm>
          <a:prstGeom prst="rect">
            <a:avLst/>
          </a:prstGeom>
          <a:noFill/>
        </p:spPr>
        <p:txBody>
          <a:bodyPr wrap="square" rtlCol="0">
            <a:spAutoFit/>
          </a:bodyPr>
          <a:lstStyle/>
          <a:p>
            <a:r>
              <a:rPr lang="en-US" dirty="0" smtClean="0"/>
              <a:t>Some failure has happened (such as worker failure)</a:t>
            </a:r>
            <a:endParaRPr lang="en-US" dirty="0"/>
          </a:p>
        </p:txBody>
      </p:sp>
    </p:spTree>
    <p:extLst>
      <p:ext uri="{BB962C8B-B14F-4D97-AF65-F5344CB8AC3E}">
        <p14:creationId xmlns:p14="http://schemas.microsoft.com/office/powerpoint/2010/main" val="247723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p:cNvGrpSpPr/>
          <p:nvPr/>
        </p:nvGrpSpPr>
        <p:grpSpPr>
          <a:xfrm>
            <a:off x="444136" y="4615543"/>
            <a:ext cx="2960916" cy="391886"/>
            <a:chOff x="905690" y="3614057"/>
            <a:chExt cx="2960916" cy="391886"/>
          </a:xfrm>
        </p:grpSpPr>
        <p:sp>
          <p:nvSpPr>
            <p:cNvPr id="5" name="Rectangle 4"/>
            <p:cNvSpPr/>
            <p:nvPr/>
          </p:nvSpPr>
          <p:spPr>
            <a:xfrm>
              <a:off x="905691" y="3614057"/>
              <a:ext cx="2960915" cy="39188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7" name="TextBox 6"/>
            <p:cNvSpPr txBox="1"/>
            <p:nvPr/>
          </p:nvSpPr>
          <p:spPr>
            <a:xfrm>
              <a:off x="905690" y="3636611"/>
              <a:ext cx="609601" cy="369332"/>
            </a:xfrm>
            <a:prstGeom prst="rect">
              <a:avLst/>
            </a:prstGeom>
            <a:noFill/>
          </p:spPr>
          <p:txBody>
            <a:bodyPr wrap="square" rtlCol="0">
              <a:spAutoFit/>
            </a:bodyPr>
            <a:lstStyle/>
            <a:p>
              <a:pPr algn="ctr"/>
              <a:r>
                <a:rPr lang="en-US" dirty="0" smtClean="0"/>
                <a:t>a</a:t>
              </a:r>
              <a:endParaRPr lang="en-US" dirty="0"/>
            </a:p>
          </p:txBody>
        </p:sp>
        <p:sp>
          <p:nvSpPr>
            <p:cNvPr id="8" name="TextBox 7"/>
            <p:cNvSpPr txBox="1"/>
            <p:nvPr/>
          </p:nvSpPr>
          <p:spPr>
            <a:xfrm>
              <a:off x="1473380" y="3636611"/>
              <a:ext cx="609601" cy="369332"/>
            </a:xfrm>
            <a:prstGeom prst="rect">
              <a:avLst/>
            </a:prstGeom>
            <a:noFill/>
          </p:spPr>
          <p:txBody>
            <a:bodyPr wrap="square" rtlCol="0">
              <a:spAutoFit/>
            </a:bodyPr>
            <a:lstStyle/>
            <a:p>
              <a:pPr algn="ctr"/>
              <a:r>
                <a:rPr lang="en-US" dirty="0"/>
                <a:t>b</a:t>
              </a:r>
            </a:p>
          </p:txBody>
        </p:sp>
        <p:sp>
          <p:nvSpPr>
            <p:cNvPr id="9" name="TextBox 8"/>
            <p:cNvSpPr txBox="1"/>
            <p:nvPr/>
          </p:nvSpPr>
          <p:spPr>
            <a:xfrm>
              <a:off x="2041070" y="3636611"/>
              <a:ext cx="609601" cy="369332"/>
            </a:xfrm>
            <a:prstGeom prst="rect">
              <a:avLst/>
            </a:prstGeom>
            <a:noFill/>
          </p:spPr>
          <p:txBody>
            <a:bodyPr wrap="square" rtlCol="0">
              <a:spAutoFit/>
            </a:bodyPr>
            <a:lstStyle/>
            <a:p>
              <a:pPr algn="ctr"/>
              <a:r>
                <a:rPr lang="en-US" dirty="0" smtClean="0"/>
                <a:t>c</a:t>
              </a:r>
              <a:endParaRPr lang="en-US" dirty="0"/>
            </a:p>
          </p:txBody>
        </p:sp>
        <p:sp>
          <p:nvSpPr>
            <p:cNvPr id="10" name="TextBox 9"/>
            <p:cNvSpPr txBox="1"/>
            <p:nvPr/>
          </p:nvSpPr>
          <p:spPr>
            <a:xfrm>
              <a:off x="2608760" y="3636611"/>
              <a:ext cx="609601" cy="369332"/>
            </a:xfrm>
            <a:prstGeom prst="rect">
              <a:avLst/>
            </a:prstGeom>
            <a:noFill/>
          </p:spPr>
          <p:txBody>
            <a:bodyPr wrap="square" rtlCol="0">
              <a:spAutoFit/>
            </a:bodyPr>
            <a:lstStyle/>
            <a:p>
              <a:pPr algn="ctr"/>
              <a:r>
                <a:rPr lang="en-US" dirty="0" smtClean="0"/>
                <a:t>d</a:t>
              </a:r>
              <a:endParaRPr lang="en-US" dirty="0"/>
            </a:p>
          </p:txBody>
        </p:sp>
        <p:sp>
          <p:nvSpPr>
            <p:cNvPr id="11" name="TextBox 10"/>
            <p:cNvSpPr txBox="1"/>
            <p:nvPr/>
          </p:nvSpPr>
          <p:spPr>
            <a:xfrm>
              <a:off x="3176451" y="3636611"/>
              <a:ext cx="609601" cy="369332"/>
            </a:xfrm>
            <a:prstGeom prst="rect">
              <a:avLst/>
            </a:prstGeom>
            <a:noFill/>
          </p:spPr>
          <p:txBody>
            <a:bodyPr wrap="square" rtlCol="0">
              <a:spAutoFit/>
            </a:bodyPr>
            <a:lstStyle/>
            <a:p>
              <a:pPr algn="ctr"/>
              <a:r>
                <a:rPr lang="en-US" dirty="0"/>
                <a:t>e</a:t>
              </a:r>
            </a:p>
          </p:txBody>
        </p:sp>
      </p:grpSp>
      <p:grpSp>
        <p:nvGrpSpPr>
          <p:cNvPr id="24" name="Group 23"/>
          <p:cNvGrpSpPr/>
          <p:nvPr/>
        </p:nvGrpSpPr>
        <p:grpSpPr>
          <a:xfrm>
            <a:off x="444136" y="5394960"/>
            <a:ext cx="2960916" cy="391886"/>
            <a:chOff x="1058090" y="3766457"/>
            <a:chExt cx="2960916" cy="391886"/>
          </a:xfrm>
        </p:grpSpPr>
        <p:sp>
          <p:nvSpPr>
            <p:cNvPr id="18" name="Rectangle 17"/>
            <p:cNvSpPr/>
            <p:nvPr/>
          </p:nvSpPr>
          <p:spPr>
            <a:xfrm>
              <a:off x="1058091" y="3766457"/>
              <a:ext cx="2960915" cy="39188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9" name="TextBox 18"/>
            <p:cNvSpPr txBox="1"/>
            <p:nvPr/>
          </p:nvSpPr>
          <p:spPr>
            <a:xfrm>
              <a:off x="1058090" y="3789011"/>
              <a:ext cx="609601" cy="369332"/>
            </a:xfrm>
            <a:prstGeom prst="rect">
              <a:avLst/>
            </a:prstGeom>
            <a:noFill/>
          </p:spPr>
          <p:txBody>
            <a:bodyPr wrap="square" rtlCol="0">
              <a:spAutoFit/>
            </a:bodyPr>
            <a:lstStyle/>
            <a:p>
              <a:pPr algn="ctr"/>
              <a:r>
                <a:rPr lang="en-US" dirty="0" smtClean="0"/>
                <a:t>a</a:t>
              </a:r>
              <a:endParaRPr lang="en-US" dirty="0"/>
            </a:p>
          </p:txBody>
        </p:sp>
        <p:sp>
          <p:nvSpPr>
            <p:cNvPr id="20" name="TextBox 19"/>
            <p:cNvSpPr txBox="1"/>
            <p:nvPr/>
          </p:nvSpPr>
          <p:spPr>
            <a:xfrm>
              <a:off x="1625780" y="3789011"/>
              <a:ext cx="609601" cy="369332"/>
            </a:xfrm>
            <a:prstGeom prst="rect">
              <a:avLst/>
            </a:prstGeom>
            <a:noFill/>
          </p:spPr>
          <p:txBody>
            <a:bodyPr wrap="square" rtlCol="0">
              <a:spAutoFit/>
            </a:bodyPr>
            <a:lstStyle/>
            <a:p>
              <a:pPr algn="ctr"/>
              <a:r>
                <a:rPr lang="en-US" dirty="0"/>
                <a:t>b</a:t>
              </a:r>
            </a:p>
          </p:txBody>
        </p:sp>
        <p:sp>
          <p:nvSpPr>
            <p:cNvPr id="21" name="TextBox 20"/>
            <p:cNvSpPr txBox="1"/>
            <p:nvPr/>
          </p:nvSpPr>
          <p:spPr>
            <a:xfrm>
              <a:off x="2193470" y="3789011"/>
              <a:ext cx="609601" cy="369332"/>
            </a:xfrm>
            <a:prstGeom prst="rect">
              <a:avLst/>
            </a:prstGeom>
            <a:noFill/>
          </p:spPr>
          <p:txBody>
            <a:bodyPr wrap="square" rtlCol="0">
              <a:spAutoFit/>
            </a:bodyPr>
            <a:lstStyle/>
            <a:p>
              <a:pPr algn="ctr"/>
              <a:r>
                <a:rPr lang="en-US" dirty="0" smtClean="0"/>
                <a:t>c</a:t>
              </a:r>
              <a:endParaRPr lang="en-US" dirty="0"/>
            </a:p>
          </p:txBody>
        </p:sp>
        <p:sp>
          <p:nvSpPr>
            <p:cNvPr id="22" name="TextBox 21"/>
            <p:cNvSpPr txBox="1"/>
            <p:nvPr/>
          </p:nvSpPr>
          <p:spPr>
            <a:xfrm>
              <a:off x="2761160" y="3789011"/>
              <a:ext cx="609601" cy="369332"/>
            </a:xfrm>
            <a:prstGeom prst="rect">
              <a:avLst/>
            </a:prstGeom>
            <a:noFill/>
          </p:spPr>
          <p:txBody>
            <a:bodyPr wrap="square" rtlCol="0">
              <a:spAutoFit/>
            </a:bodyPr>
            <a:lstStyle/>
            <a:p>
              <a:pPr algn="ctr"/>
              <a:r>
                <a:rPr lang="en-US" dirty="0" smtClean="0"/>
                <a:t>d</a:t>
              </a:r>
              <a:endParaRPr lang="en-US" dirty="0"/>
            </a:p>
          </p:txBody>
        </p:sp>
        <p:sp>
          <p:nvSpPr>
            <p:cNvPr id="23" name="TextBox 22"/>
            <p:cNvSpPr txBox="1"/>
            <p:nvPr/>
          </p:nvSpPr>
          <p:spPr>
            <a:xfrm>
              <a:off x="3328851" y="3789011"/>
              <a:ext cx="609601" cy="369332"/>
            </a:xfrm>
            <a:prstGeom prst="rect">
              <a:avLst/>
            </a:prstGeom>
            <a:noFill/>
          </p:spPr>
          <p:txBody>
            <a:bodyPr wrap="square" rtlCol="0">
              <a:spAutoFit/>
            </a:bodyPr>
            <a:lstStyle/>
            <a:p>
              <a:pPr algn="ctr"/>
              <a:r>
                <a:rPr lang="en-US" dirty="0"/>
                <a:t>e</a:t>
              </a:r>
            </a:p>
          </p:txBody>
        </p:sp>
      </p:grpSp>
      <p:sp>
        <p:nvSpPr>
          <p:cNvPr id="26" name="Rectangle 25"/>
          <p:cNvSpPr/>
          <p:nvPr/>
        </p:nvSpPr>
        <p:spPr>
          <a:xfrm>
            <a:off x="3762102" y="4615544"/>
            <a:ext cx="2386149" cy="3918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Flink</a:t>
            </a:r>
            <a:r>
              <a:rPr lang="en-US" dirty="0" smtClean="0"/>
              <a:t> Kafka Consumer</a:t>
            </a:r>
            <a:endParaRPr lang="en-US" dirty="0"/>
          </a:p>
        </p:txBody>
      </p:sp>
      <p:sp>
        <p:nvSpPr>
          <p:cNvPr id="27" name="Rectangle 26"/>
          <p:cNvSpPr/>
          <p:nvPr/>
        </p:nvSpPr>
        <p:spPr>
          <a:xfrm>
            <a:off x="3762102" y="5394960"/>
            <a:ext cx="2386149" cy="3918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Flink</a:t>
            </a:r>
            <a:r>
              <a:rPr lang="en-US" dirty="0" smtClean="0"/>
              <a:t> Kafka Consumer</a:t>
            </a:r>
            <a:endParaRPr lang="en-US" dirty="0"/>
          </a:p>
        </p:txBody>
      </p:sp>
      <p:sp>
        <p:nvSpPr>
          <p:cNvPr id="28" name="Rectangle 27"/>
          <p:cNvSpPr/>
          <p:nvPr/>
        </p:nvSpPr>
        <p:spPr>
          <a:xfrm>
            <a:off x="6737166" y="5007429"/>
            <a:ext cx="2386149" cy="3918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Flink</a:t>
            </a:r>
            <a:r>
              <a:rPr lang="en-US" dirty="0" smtClean="0"/>
              <a:t> Map Operator</a:t>
            </a:r>
            <a:endParaRPr lang="en-US" dirty="0"/>
          </a:p>
        </p:txBody>
      </p:sp>
      <p:cxnSp>
        <p:nvCxnSpPr>
          <p:cNvPr id="30" name="Straight Arrow Connector 29"/>
          <p:cNvCxnSpPr>
            <a:stCxn id="5" idx="3"/>
            <a:endCxn id="26" idx="1"/>
          </p:cNvCxnSpPr>
          <p:nvPr/>
        </p:nvCxnSpPr>
        <p:spPr>
          <a:xfrm>
            <a:off x="3405052" y="4811486"/>
            <a:ext cx="35705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18" idx="3"/>
            <a:endCxn id="27" idx="1"/>
          </p:cNvCxnSpPr>
          <p:nvPr/>
        </p:nvCxnSpPr>
        <p:spPr>
          <a:xfrm>
            <a:off x="3405052" y="5590903"/>
            <a:ext cx="3570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26" idx="3"/>
            <a:endCxn id="28" idx="1"/>
          </p:cNvCxnSpPr>
          <p:nvPr/>
        </p:nvCxnSpPr>
        <p:spPr>
          <a:xfrm>
            <a:off x="6148251" y="4811487"/>
            <a:ext cx="588915" cy="3918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27" idx="3"/>
            <a:endCxn id="28" idx="1"/>
          </p:cNvCxnSpPr>
          <p:nvPr/>
        </p:nvCxnSpPr>
        <p:spPr>
          <a:xfrm flipV="1">
            <a:off x="6148251" y="5203372"/>
            <a:ext cx="588915" cy="3875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7037611" y="3304596"/>
            <a:ext cx="1785257" cy="369332"/>
          </a:xfrm>
          <a:prstGeom prst="rect">
            <a:avLst/>
          </a:prstGeom>
          <a:noFill/>
        </p:spPr>
        <p:txBody>
          <a:bodyPr wrap="square" rtlCol="0">
            <a:spAutoFit/>
          </a:bodyPr>
          <a:lstStyle/>
          <a:p>
            <a:r>
              <a:rPr lang="en-US" dirty="0" smtClean="0"/>
              <a:t>counter = </a:t>
            </a:r>
            <a:r>
              <a:rPr lang="en-US" dirty="0" smtClean="0"/>
              <a:t>3</a:t>
            </a:r>
            <a:endParaRPr lang="en-US" dirty="0" smtClean="0"/>
          </a:p>
        </p:txBody>
      </p:sp>
      <p:cxnSp>
        <p:nvCxnSpPr>
          <p:cNvPr id="43" name="Straight Connector 42"/>
          <p:cNvCxnSpPr/>
          <p:nvPr/>
        </p:nvCxnSpPr>
        <p:spPr>
          <a:xfrm>
            <a:off x="1579516" y="4469675"/>
            <a:ext cx="0" cy="683622"/>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44" name="Straight Connector 43"/>
          <p:cNvCxnSpPr/>
          <p:nvPr/>
        </p:nvCxnSpPr>
        <p:spPr>
          <a:xfrm>
            <a:off x="1055914" y="5260369"/>
            <a:ext cx="0" cy="683622"/>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31" name="Rectangle 30"/>
          <p:cNvSpPr/>
          <p:nvPr/>
        </p:nvSpPr>
        <p:spPr>
          <a:xfrm>
            <a:off x="386442" y="772887"/>
            <a:ext cx="2328456" cy="12409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b="1" u="sng" dirty="0" smtClean="0"/>
              <a:t>Zookeeper</a:t>
            </a:r>
          </a:p>
          <a:p>
            <a:r>
              <a:rPr lang="en-US" dirty="0" smtClean="0"/>
              <a:t>offset partition 0: </a:t>
            </a:r>
            <a:r>
              <a:rPr lang="en-US" dirty="0" smtClean="0"/>
              <a:t>2</a:t>
            </a:r>
            <a:endParaRPr lang="en-US" dirty="0" smtClean="0"/>
          </a:p>
          <a:p>
            <a:r>
              <a:rPr lang="en-US" dirty="0" smtClean="0"/>
              <a:t>offset partition 1: </a:t>
            </a:r>
            <a:r>
              <a:rPr lang="en-US" dirty="0" smtClean="0"/>
              <a:t>1</a:t>
            </a:r>
            <a:endParaRPr lang="en-US" dirty="0"/>
          </a:p>
        </p:txBody>
      </p:sp>
      <p:sp>
        <p:nvSpPr>
          <p:cNvPr id="2" name="Rectangle 1"/>
          <p:cNvSpPr/>
          <p:nvPr/>
        </p:nvSpPr>
        <p:spPr>
          <a:xfrm>
            <a:off x="3324498" y="772887"/>
            <a:ext cx="4295502" cy="17634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b="1" u="sng" dirty="0" err="1" smtClean="0"/>
              <a:t>Flink</a:t>
            </a:r>
            <a:r>
              <a:rPr lang="en-US" b="1" u="sng" dirty="0" smtClean="0"/>
              <a:t> Checkpoint Coordinator</a:t>
            </a:r>
          </a:p>
          <a:p>
            <a:r>
              <a:rPr lang="en-US" dirty="0" smtClean="0"/>
              <a:t>Pending:</a:t>
            </a:r>
          </a:p>
          <a:p>
            <a:r>
              <a:rPr lang="en-US" dirty="0" smtClean="0"/>
              <a:t>Completed: </a:t>
            </a:r>
            <a:endParaRPr lang="en-US" dirty="0"/>
          </a:p>
        </p:txBody>
      </p:sp>
      <p:sp>
        <p:nvSpPr>
          <p:cNvPr id="33" name="TextBox 32"/>
          <p:cNvSpPr txBox="1"/>
          <p:nvPr/>
        </p:nvSpPr>
        <p:spPr>
          <a:xfrm>
            <a:off x="3686992" y="3304596"/>
            <a:ext cx="1785257" cy="369332"/>
          </a:xfrm>
          <a:prstGeom prst="rect">
            <a:avLst/>
          </a:prstGeom>
          <a:noFill/>
        </p:spPr>
        <p:txBody>
          <a:bodyPr wrap="square" rtlCol="0">
            <a:spAutoFit/>
          </a:bodyPr>
          <a:lstStyle/>
          <a:p>
            <a:r>
              <a:rPr lang="en-US" dirty="0" smtClean="0"/>
              <a:t>offsets = </a:t>
            </a:r>
            <a:r>
              <a:rPr lang="en-US" dirty="0"/>
              <a:t>2</a:t>
            </a:r>
            <a:r>
              <a:rPr lang="en-US" dirty="0" smtClean="0"/>
              <a:t>, </a:t>
            </a:r>
            <a:r>
              <a:rPr lang="en-US" dirty="0"/>
              <a:t>1</a:t>
            </a:r>
            <a:endParaRPr lang="en-US" dirty="0" smtClean="0"/>
          </a:p>
        </p:txBody>
      </p:sp>
      <p:sp>
        <p:nvSpPr>
          <p:cNvPr id="37" name="TextBox 36"/>
          <p:cNvSpPr txBox="1"/>
          <p:nvPr/>
        </p:nvSpPr>
        <p:spPr>
          <a:xfrm>
            <a:off x="4509950" y="1318787"/>
            <a:ext cx="1785257" cy="369332"/>
          </a:xfrm>
          <a:prstGeom prst="rect">
            <a:avLst/>
          </a:prstGeom>
          <a:noFill/>
        </p:spPr>
        <p:txBody>
          <a:bodyPr wrap="square" rtlCol="0">
            <a:spAutoFit/>
          </a:bodyPr>
          <a:lstStyle/>
          <a:p>
            <a:r>
              <a:rPr lang="en-US" dirty="0" smtClean="0"/>
              <a:t>offsets = </a:t>
            </a:r>
            <a:r>
              <a:rPr lang="en-US" dirty="0" smtClean="0"/>
              <a:t>2, 1</a:t>
            </a:r>
            <a:endParaRPr lang="en-US" dirty="0" smtClean="0"/>
          </a:p>
        </p:txBody>
      </p:sp>
      <p:sp>
        <p:nvSpPr>
          <p:cNvPr id="45" name="TextBox 44"/>
          <p:cNvSpPr txBox="1"/>
          <p:nvPr/>
        </p:nvSpPr>
        <p:spPr>
          <a:xfrm>
            <a:off x="5844537" y="1311984"/>
            <a:ext cx="1785257" cy="369332"/>
          </a:xfrm>
          <a:prstGeom prst="rect">
            <a:avLst/>
          </a:prstGeom>
          <a:noFill/>
        </p:spPr>
        <p:txBody>
          <a:bodyPr wrap="square" rtlCol="0">
            <a:spAutoFit/>
          </a:bodyPr>
          <a:lstStyle/>
          <a:p>
            <a:r>
              <a:rPr lang="en-US" dirty="0" smtClean="0"/>
              <a:t>counter = </a:t>
            </a:r>
            <a:r>
              <a:rPr lang="en-US" dirty="0" smtClean="0"/>
              <a:t>3</a:t>
            </a:r>
            <a:endParaRPr lang="en-US" dirty="0" smtClean="0"/>
          </a:p>
        </p:txBody>
      </p:sp>
      <p:sp>
        <p:nvSpPr>
          <p:cNvPr id="39" name="Cloud Callout 38"/>
          <p:cNvSpPr/>
          <p:nvPr/>
        </p:nvSpPr>
        <p:spPr>
          <a:xfrm>
            <a:off x="8483236" y="1318787"/>
            <a:ext cx="2423161" cy="1434493"/>
          </a:xfrm>
          <a:prstGeom prst="cloudCallout">
            <a:avLst>
              <a:gd name="adj1" fmla="val 31054"/>
              <a:gd name="adj2" fmla="val -21163"/>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smtClean="0"/>
              <a:t>Reset all operators to last completed checkpoint</a:t>
            </a:r>
            <a:endParaRPr lang="en-US" dirty="0"/>
          </a:p>
        </p:txBody>
      </p:sp>
      <p:cxnSp>
        <p:nvCxnSpPr>
          <p:cNvPr id="4" name="Straight Arrow Connector 3"/>
          <p:cNvCxnSpPr/>
          <p:nvPr/>
        </p:nvCxnSpPr>
        <p:spPr>
          <a:xfrm flipH="1">
            <a:off x="4579621" y="1659544"/>
            <a:ext cx="822958" cy="1616477"/>
          </a:xfrm>
          <a:prstGeom prst="straightConnector1">
            <a:avLst/>
          </a:prstGeom>
          <a:ln w="381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45" idx="2"/>
            <a:endCxn id="40" idx="0"/>
          </p:cNvCxnSpPr>
          <p:nvPr/>
        </p:nvCxnSpPr>
        <p:spPr>
          <a:xfrm>
            <a:off x="6737166" y="1681316"/>
            <a:ext cx="1193074" cy="1623280"/>
          </a:xfrm>
          <a:prstGeom prst="straightConnector1">
            <a:avLst/>
          </a:prstGeom>
          <a:ln w="381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444136" y="6143625"/>
            <a:ext cx="11176364" cy="646331"/>
          </a:xfrm>
          <a:prstGeom prst="rect">
            <a:avLst/>
          </a:prstGeom>
          <a:noFill/>
        </p:spPr>
        <p:txBody>
          <a:bodyPr wrap="square" rtlCol="0">
            <a:spAutoFit/>
          </a:bodyPr>
          <a:lstStyle/>
          <a:p>
            <a:r>
              <a:rPr lang="en-US" dirty="0" smtClean="0"/>
              <a:t>The checkpoint coordinator restores the state at all the operators participating at the </a:t>
            </a:r>
            <a:r>
              <a:rPr lang="en-US" dirty="0" err="1" smtClean="0"/>
              <a:t>checkpointing</a:t>
            </a:r>
            <a:r>
              <a:rPr lang="en-US" dirty="0" smtClean="0"/>
              <a:t>. The Kafka sources start from offset 2 and 1, the counter’s value is 3.</a:t>
            </a:r>
            <a:endParaRPr lang="en-US" dirty="0"/>
          </a:p>
        </p:txBody>
      </p:sp>
    </p:spTree>
    <p:extLst>
      <p:ext uri="{BB962C8B-B14F-4D97-AF65-F5344CB8AC3E}">
        <p14:creationId xmlns:p14="http://schemas.microsoft.com/office/powerpoint/2010/main" val="164155090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p:cNvGrpSpPr/>
          <p:nvPr/>
        </p:nvGrpSpPr>
        <p:grpSpPr>
          <a:xfrm>
            <a:off x="444136" y="4615543"/>
            <a:ext cx="2960916" cy="391886"/>
            <a:chOff x="905690" y="3614057"/>
            <a:chExt cx="2960916" cy="391886"/>
          </a:xfrm>
        </p:grpSpPr>
        <p:sp>
          <p:nvSpPr>
            <p:cNvPr id="5" name="Rectangle 4"/>
            <p:cNvSpPr/>
            <p:nvPr/>
          </p:nvSpPr>
          <p:spPr>
            <a:xfrm>
              <a:off x="905691" y="3614057"/>
              <a:ext cx="2960915" cy="39188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7" name="TextBox 6"/>
            <p:cNvSpPr txBox="1"/>
            <p:nvPr/>
          </p:nvSpPr>
          <p:spPr>
            <a:xfrm>
              <a:off x="905690" y="3636611"/>
              <a:ext cx="609601" cy="369332"/>
            </a:xfrm>
            <a:prstGeom prst="rect">
              <a:avLst/>
            </a:prstGeom>
            <a:noFill/>
          </p:spPr>
          <p:txBody>
            <a:bodyPr wrap="square" rtlCol="0">
              <a:spAutoFit/>
            </a:bodyPr>
            <a:lstStyle/>
            <a:p>
              <a:pPr algn="ctr"/>
              <a:r>
                <a:rPr lang="en-US" dirty="0" smtClean="0"/>
                <a:t>a</a:t>
              </a:r>
              <a:endParaRPr lang="en-US" dirty="0"/>
            </a:p>
          </p:txBody>
        </p:sp>
        <p:sp>
          <p:nvSpPr>
            <p:cNvPr id="8" name="TextBox 7"/>
            <p:cNvSpPr txBox="1"/>
            <p:nvPr/>
          </p:nvSpPr>
          <p:spPr>
            <a:xfrm>
              <a:off x="1473380" y="3636611"/>
              <a:ext cx="609601" cy="369332"/>
            </a:xfrm>
            <a:prstGeom prst="rect">
              <a:avLst/>
            </a:prstGeom>
            <a:noFill/>
          </p:spPr>
          <p:txBody>
            <a:bodyPr wrap="square" rtlCol="0">
              <a:spAutoFit/>
            </a:bodyPr>
            <a:lstStyle/>
            <a:p>
              <a:pPr algn="ctr"/>
              <a:r>
                <a:rPr lang="en-US" dirty="0"/>
                <a:t>b</a:t>
              </a:r>
            </a:p>
          </p:txBody>
        </p:sp>
        <p:sp>
          <p:nvSpPr>
            <p:cNvPr id="9" name="TextBox 8"/>
            <p:cNvSpPr txBox="1"/>
            <p:nvPr/>
          </p:nvSpPr>
          <p:spPr>
            <a:xfrm>
              <a:off x="2041070" y="3636611"/>
              <a:ext cx="609601" cy="369332"/>
            </a:xfrm>
            <a:prstGeom prst="rect">
              <a:avLst/>
            </a:prstGeom>
            <a:noFill/>
          </p:spPr>
          <p:txBody>
            <a:bodyPr wrap="square" rtlCol="0">
              <a:spAutoFit/>
            </a:bodyPr>
            <a:lstStyle/>
            <a:p>
              <a:pPr algn="ctr"/>
              <a:r>
                <a:rPr lang="en-US" dirty="0" smtClean="0"/>
                <a:t>c</a:t>
              </a:r>
              <a:endParaRPr lang="en-US" dirty="0"/>
            </a:p>
          </p:txBody>
        </p:sp>
        <p:sp>
          <p:nvSpPr>
            <p:cNvPr id="10" name="TextBox 9"/>
            <p:cNvSpPr txBox="1"/>
            <p:nvPr/>
          </p:nvSpPr>
          <p:spPr>
            <a:xfrm>
              <a:off x="2608760" y="3636611"/>
              <a:ext cx="609601" cy="369332"/>
            </a:xfrm>
            <a:prstGeom prst="rect">
              <a:avLst/>
            </a:prstGeom>
            <a:noFill/>
          </p:spPr>
          <p:txBody>
            <a:bodyPr wrap="square" rtlCol="0">
              <a:spAutoFit/>
            </a:bodyPr>
            <a:lstStyle/>
            <a:p>
              <a:pPr algn="ctr"/>
              <a:r>
                <a:rPr lang="en-US" dirty="0" smtClean="0"/>
                <a:t>d</a:t>
              </a:r>
              <a:endParaRPr lang="en-US" dirty="0"/>
            </a:p>
          </p:txBody>
        </p:sp>
        <p:sp>
          <p:nvSpPr>
            <p:cNvPr id="11" name="TextBox 10"/>
            <p:cNvSpPr txBox="1"/>
            <p:nvPr/>
          </p:nvSpPr>
          <p:spPr>
            <a:xfrm>
              <a:off x="3176451" y="3636611"/>
              <a:ext cx="609601" cy="369332"/>
            </a:xfrm>
            <a:prstGeom prst="rect">
              <a:avLst/>
            </a:prstGeom>
            <a:noFill/>
          </p:spPr>
          <p:txBody>
            <a:bodyPr wrap="square" rtlCol="0">
              <a:spAutoFit/>
            </a:bodyPr>
            <a:lstStyle/>
            <a:p>
              <a:pPr algn="ctr"/>
              <a:r>
                <a:rPr lang="en-US" dirty="0"/>
                <a:t>e</a:t>
              </a:r>
            </a:p>
          </p:txBody>
        </p:sp>
      </p:grpSp>
      <p:grpSp>
        <p:nvGrpSpPr>
          <p:cNvPr id="24" name="Group 23"/>
          <p:cNvGrpSpPr/>
          <p:nvPr/>
        </p:nvGrpSpPr>
        <p:grpSpPr>
          <a:xfrm>
            <a:off x="444136" y="5394960"/>
            <a:ext cx="2960916" cy="391886"/>
            <a:chOff x="1058090" y="3766457"/>
            <a:chExt cx="2960916" cy="391886"/>
          </a:xfrm>
        </p:grpSpPr>
        <p:sp>
          <p:nvSpPr>
            <p:cNvPr id="18" name="Rectangle 17"/>
            <p:cNvSpPr/>
            <p:nvPr/>
          </p:nvSpPr>
          <p:spPr>
            <a:xfrm>
              <a:off x="1058091" y="3766457"/>
              <a:ext cx="2960915" cy="39188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9" name="TextBox 18"/>
            <p:cNvSpPr txBox="1"/>
            <p:nvPr/>
          </p:nvSpPr>
          <p:spPr>
            <a:xfrm>
              <a:off x="1058090" y="3789011"/>
              <a:ext cx="609601" cy="369332"/>
            </a:xfrm>
            <a:prstGeom prst="rect">
              <a:avLst/>
            </a:prstGeom>
            <a:noFill/>
          </p:spPr>
          <p:txBody>
            <a:bodyPr wrap="square" rtlCol="0">
              <a:spAutoFit/>
            </a:bodyPr>
            <a:lstStyle/>
            <a:p>
              <a:pPr algn="ctr"/>
              <a:r>
                <a:rPr lang="en-US" dirty="0" smtClean="0"/>
                <a:t>a</a:t>
              </a:r>
              <a:endParaRPr lang="en-US" dirty="0"/>
            </a:p>
          </p:txBody>
        </p:sp>
        <p:sp>
          <p:nvSpPr>
            <p:cNvPr id="20" name="TextBox 19"/>
            <p:cNvSpPr txBox="1"/>
            <p:nvPr/>
          </p:nvSpPr>
          <p:spPr>
            <a:xfrm>
              <a:off x="1625780" y="3789011"/>
              <a:ext cx="609601" cy="369332"/>
            </a:xfrm>
            <a:prstGeom prst="rect">
              <a:avLst/>
            </a:prstGeom>
            <a:noFill/>
          </p:spPr>
          <p:txBody>
            <a:bodyPr wrap="square" rtlCol="0">
              <a:spAutoFit/>
            </a:bodyPr>
            <a:lstStyle/>
            <a:p>
              <a:pPr algn="ctr"/>
              <a:r>
                <a:rPr lang="en-US" dirty="0"/>
                <a:t>b</a:t>
              </a:r>
            </a:p>
          </p:txBody>
        </p:sp>
        <p:sp>
          <p:nvSpPr>
            <p:cNvPr id="21" name="TextBox 20"/>
            <p:cNvSpPr txBox="1"/>
            <p:nvPr/>
          </p:nvSpPr>
          <p:spPr>
            <a:xfrm>
              <a:off x="2193470" y="3789011"/>
              <a:ext cx="609601" cy="369332"/>
            </a:xfrm>
            <a:prstGeom prst="rect">
              <a:avLst/>
            </a:prstGeom>
            <a:noFill/>
          </p:spPr>
          <p:txBody>
            <a:bodyPr wrap="square" rtlCol="0">
              <a:spAutoFit/>
            </a:bodyPr>
            <a:lstStyle/>
            <a:p>
              <a:pPr algn="ctr"/>
              <a:r>
                <a:rPr lang="en-US" dirty="0" smtClean="0"/>
                <a:t>c</a:t>
              </a:r>
              <a:endParaRPr lang="en-US" dirty="0"/>
            </a:p>
          </p:txBody>
        </p:sp>
        <p:sp>
          <p:nvSpPr>
            <p:cNvPr id="22" name="TextBox 21"/>
            <p:cNvSpPr txBox="1"/>
            <p:nvPr/>
          </p:nvSpPr>
          <p:spPr>
            <a:xfrm>
              <a:off x="2761160" y="3789011"/>
              <a:ext cx="609601" cy="369332"/>
            </a:xfrm>
            <a:prstGeom prst="rect">
              <a:avLst/>
            </a:prstGeom>
            <a:noFill/>
          </p:spPr>
          <p:txBody>
            <a:bodyPr wrap="square" rtlCol="0">
              <a:spAutoFit/>
            </a:bodyPr>
            <a:lstStyle/>
            <a:p>
              <a:pPr algn="ctr"/>
              <a:r>
                <a:rPr lang="en-US" dirty="0" smtClean="0"/>
                <a:t>d</a:t>
              </a:r>
              <a:endParaRPr lang="en-US" dirty="0"/>
            </a:p>
          </p:txBody>
        </p:sp>
        <p:sp>
          <p:nvSpPr>
            <p:cNvPr id="23" name="TextBox 22"/>
            <p:cNvSpPr txBox="1"/>
            <p:nvPr/>
          </p:nvSpPr>
          <p:spPr>
            <a:xfrm>
              <a:off x="3328851" y="3789011"/>
              <a:ext cx="609601" cy="369332"/>
            </a:xfrm>
            <a:prstGeom prst="rect">
              <a:avLst/>
            </a:prstGeom>
            <a:noFill/>
          </p:spPr>
          <p:txBody>
            <a:bodyPr wrap="square" rtlCol="0">
              <a:spAutoFit/>
            </a:bodyPr>
            <a:lstStyle/>
            <a:p>
              <a:pPr algn="ctr"/>
              <a:r>
                <a:rPr lang="en-US" dirty="0"/>
                <a:t>e</a:t>
              </a:r>
            </a:p>
          </p:txBody>
        </p:sp>
      </p:grpSp>
      <p:sp>
        <p:nvSpPr>
          <p:cNvPr id="26" name="Rectangle 25"/>
          <p:cNvSpPr/>
          <p:nvPr/>
        </p:nvSpPr>
        <p:spPr>
          <a:xfrm>
            <a:off x="3762102" y="4615544"/>
            <a:ext cx="2386149" cy="3918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Flink</a:t>
            </a:r>
            <a:r>
              <a:rPr lang="en-US" dirty="0" smtClean="0"/>
              <a:t> Kafka Consumer</a:t>
            </a:r>
            <a:endParaRPr lang="en-US" dirty="0"/>
          </a:p>
        </p:txBody>
      </p:sp>
      <p:sp>
        <p:nvSpPr>
          <p:cNvPr id="27" name="Rectangle 26"/>
          <p:cNvSpPr/>
          <p:nvPr/>
        </p:nvSpPr>
        <p:spPr>
          <a:xfrm>
            <a:off x="3762102" y="5394960"/>
            <a:ext cx="2386149" cy="3918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Flink</a:t>
            </a:r>
            <a:r>
              <a:rPr lang="en-US" dirty="0" smtClean="0"/>
              <a:t> Kafka Consumer</a:t>
            </a:r>
            <a:endParaRPr lang="en-US" dirty="0"/>
          </a:p>
        </p:txBody>
      </p:sp>
      <p:sp>
        <p:nvSpPr>
          <p:cNvPr id="28" name="Rectangle 27"/>
          <p:cNvSpPr/>
          <p:nvPr/>
        </p:nvSpPr>
        <p:spPr>
          <a:xfrm>
            <a:off x="6737166" y="5007429"/>
            <a:ext cx="2386149" cy="3918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Flink</a:t>
            </a:r>
            <a:r>
              <a:rPr lang="en-US" dirty="0" smtClean="0"/>
              <a:t> Map Operator</a:t>
            </a:r>
            <a:endParaRPr lang="en-US" dirty="0"/>
          </a:p>
        </p:txBody>
      </p:sp>
      <p:cxnSp>
        <p:nvCxnSpPr>
          <p:cNvPr id="30" name="Straight Arrow Connector 29"/>
          <p:cNvCxnSpPr>
            <a:stCxn id="5" idx="3"/>
            <a:endCxn id="26" idx="1"/>
          </p:cNvCxnSpPr>
          <p:nvPr/>
        </p:nvCxnSpPr>
        <p:spPr>
          <a:xfrm>
            <a:off x="3405052" y="4811486"/>
            <a:ext cx="35705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18" idx="3"/>
            <a:endCxn id="27" idx="1"/>
          </p:cNvCxnSpPr>
          <p:nvPr/>
        </p:nvCxnSpPr>
        <p:spPr>
          <a:xfrm>
            <a:off x="3405052" y="5590903"/>
            <a:ext cx="3570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26" idx="3"/>
            <a:endCxn id="28" idx="1"/>
          </p:cNvCxnSpPr>
          <p:nvPr/>
        </p:nvCxnSpPr>
        <p:spPr>
          <a:xfrm>
            <a:off x="6148251" y="4811487"/>
            <a:ext cx="588915" cy="3918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27" idx="3"/>
            <a:endCxn id="28" idx="1"/>
          </p:cNvCxnSpPr>
          <p:nvPr/>
        </p:nvCxnSpPr>
        <p:spPr>
          <a:xfrm flipV="1">
            <a:off x="6148251" y="5203372"/>
            <a:ext cx="588915" cy="3875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7037611" y="3304596"/>
            <a:ext cx="1785257" cy="369332"/>
          </a:xfrm>
          <a:prstGeom prst="rect">
            <a:avLst/>
          </a:prstGeom>
          <a:noFill/>
        </p:spPr>
        <p:txBody>
          <a:bodyPr wrap="square" rtlCol="0">
            <a:spAutoFit/>
          </a:bodyPr>
          <a:lstStyle/>
          <a:p>
            <a:r>
              <a:rPr lang="en-US" dirty="0" smtClean="0"/>
              <a:t>counter = </a:t>
            </a:r>
            <a:r>
              <a:rPr lang="en-US" dirty="0" smtClean="0"/>
              <a:t>3</a:t>
            </a:r>
            <a:endParaRPr lang="en-US" dirty="0" smtClean="0"/>
          </a:p>
        </p:txBody>
      </p:sp>
      <p:cxnSp>
        <p:nvCxnSpPr>
          <p:cNvPr id="43" name="Straight Connector 42"/>
          <p:cNvCxnSpPr/>
          <p:nvPr/>
        </p:nvCxnSpPr>
        <p:spPr>
          <a:xfrm>
            <a:off x="2147206" y="4469675"/>
            <a:ext cx="0" cy="683622"/>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44" name="Straight Connector 43"/>
          <p:cNvCxnSpPr/>
          <p:nvPr/>
        </p:nvCxnSpPr>
        <p:spPr>
          <a:xfrm>
            <a:off x="1055914" y="5260369"/>
            <a:ext cx="0" cy="683622"/>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31" name="Rectangle 30"/>
          <p:cNvSpPr/>
          <p:nvPr/>
        </p:nvSpPr>
        <p:spPr>
          <a:xfrm>
            <a:off x="386442" y="772887"/>
            <a:ext cx="2328456" cy="12409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b="1" u="sng" dirty="0" smtClean="0"/>
              <a:t>Zookeeper</a:t>
            </a:r>
          </a:p>
          <a:p>
            <a:r>
              <a:rPr lang="en-US" dirty="0" smtClean="0"/>
              <a:t>offset partition 0: </a:t>
            </a:r>
            <a:r>
              <a:rPr lang="en-US" dirty="0" smtClean="0"/>
              <a:t>2</a:t>
            </a:r>
            <a:endParaRPr lang="en-US" dirty="0" smtClean="0"/>
          </a:p>
          <a:p>
            <a:r>
              <a:rPr lang="en-US" dirty="0" smtClean="0"/>
              <a:t>offset partition 1: </a:t>
            </a:r>
            <a:r>
              <a:rPr lang="en-US" dirty="0" smtClean="0"/>
              <a:t>1</a:t>
            </a:r>
            <a:endParaRPr lang="en-US" dirty="0"/>
          </a:p>
        </p:txBody>
      </p:sp>
      <p:sp>
        <p:nvSpPr>
          <p:cNvPr id="2" name="Rectangle 1"/>
          <p:cNvSpPr/>
          <p:nvPr/>
        </p:nvSpPr>
        <p:spPr>
          <a:xfrm>
            <a:off x="3324498" y="772887"/>
            <a:ext cx="4295502" cy="17634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b="1" u="sng" dirty="0" err="1" smtClean="0"/>
              <a:t>Flink</a:t>
            </a:r>
            <a:r>
              <a:rPr lang="en-US" b="1" u="sng" dirty="0" smtClean="0"/>
              <a:t> Checkpoint Coordinator</a:t>
            </a:r>
          </a:p>
          <a:p>
            <a:r>
              <a:rPr lang="en-US" dirty="0" smtClean="0"/>
              <a:t>Pending:</a:t>
            </a:r>
          </a:p>
          <a:p>
            <a:r>
              <a:rPr lang="en-US" dirty="0" smtClean="0"/>
              <a:t>Completed: </a:t>
            </a:r>
            <a:endParaRPr lang="en-US" dirty="0"/>
          </a:p>
        </p:txBody>
      </p:sp>
      <p:sp>
        <p:nvSpPr>
          <p:cNvPr id="33" name="TextBox 32"/>
          <p:cNvSpPr txBox="1"/>
          <p:nvPr/>
        </p:nvSpPr>
        <p:spPr>
          <a:xfrm>
            <a:off x="3686992" y="3304596"/>
            <a:ext cx="1785257" cy="369332"/>
          </a:xfrm>
          <a:prstGeom prst="rect">
            <a:avLst/>
          </a:prstGeom>
          <a:noFill/>
        </p:spPr>
        <p:txBody>
          <a:bodyPr wrap="square" rtlCol="0">
            <a:spAutoFit/>
          </a:bodyPr>
          <a:lstStyle/>
          <a:p>
            <a:r>
              <a:rPr lang="en-US" dirty="0" smtClean="0"/>
              <a:t>offsets = </a:t>
            </a:r>
            <a:r>
              <a:rPr lang="en-US" dirty="0" smtClean="0"/>
              <a:t>3, </a:t>
            </a:r>
            <a:r>
              <a:rPr lang="en-US" dirty="0"/>
              <a:t>1</a:t>
            </a:r>
            <a:endParaRPr lang="en-US" dirty="0" smtClean="0"/>
          </a:p>
        </p:txBody>
      </p:sp>
      <p:sp>
        <p:nvSpPr>
          <p:cNvPr id="37" name="TextBox 36"/>
          <p:cNvSpPr txBox="1"/>
          <p:nvPr/>
        </p:nvSpPr>
        <p:spPr>
          <a:xfrm>
            <a:off x="4509950" y="1318787"/>
            <a:ext cx="1785257" cy="369332"/>
          </a:xfrm>
          <a:prstGeom prst="rect">
            <a:avLst/>
          </a:prstGeom>
          <a:noFill/>
        </p:spPr>
        <p:txBody>
          <a:bodyPr wrap="square" rtlCol="0">
            <a:spAutoFit/>
          </a:bodyPr>
          <a:lstStyle/>
          <a:p>
            <a:r>
              <a:rPr lang="en-US" dirty="0" smtClean="0"/>
              <a:t>offsets = </a:t>
            </a:r>
            <a:r>
              <a:rPr lang="en-US" dirty="0" smtClean="0"/>
              <a:t>2, 1</a:t>
            </a:r>
            <a:endParaRPr lang="en-US" dirty="0" smtClean="0"/>
          </a:p>
        </p:txBody>
      </p:sp>
      <p:sp>
        <p:nvSpPr>
          <p:cNvPr id="45" name="TextBox 44"/>
          <p:cNvSpPr txBox="1"/>
          <p:nvPr/>
        </p:nvSpPr>
        <p:spPr>
          <a:xfrm>
            <a:off x="5844537" y="1311984"/>
            <a:ext cx="1785257" cy="369332"/>
          </a:xfrm>
          <a:prstGeom prst="rect">
            <a:avLst/>
          </a:prstGeom>
          <a:noFill/>
        </p:spPr>
        <p:txBody>
          <a:bodyPr wrap="square" rtlCol="0">
            <a:spAutoFit/>
          </a:bodyPr>
          <a:lstStyle/>
          <a:p>
            <a:r>
              <a:rPr lang="en-US" dirty="0" smtClean="0"/>
              <a:t>counter = </a:t>
            </a:r>
            <a:r>
              <a:rPr lang="en-US" dirty="0" smtClean="0"/>
              <a:t>3</a:t>
            </a:r>
            <a:endParaRPr lang="en-US" dirty="0" smtClean="0"/>
          </a:p>
        </p:txBody>
      </p:sp>
      <p:sp>
        <p:nvSpPr>
          <p:cNvPr id="39" name="Cloud Callout 38"/>
          <p:cNvSpPr/>
          <p:nvPr/>
        </p:nvSpPr>
        <p:spPr>
          <a:xfrm>
            <a:off x="8483236" y="1318787"/>
            <a:ext cx="2423161" cy="1434493"/>
          </a:xfrm>
          <a:prstGeom prst="cloudCallout">
            <a:avLst>
              <a:gd name="adj1" fmla="val 31054"/>
              <a:gd name="adj2" fmla="val -21163"/>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smtClean="0"/>
              <a:t>Continue processing …</a:t>
            </a:r>
            <a:endParaRPr lang="en-US" dirty="0"/>
          </a:p>
        </p:txBody>
      </p:sp>
      <p:sp>
        <p:nvSpPr>
          <p:cNvPr id="35" name="TextBox 34"/>
          <p:cNvSpPr txBox="1"/>
          <p:nvPr/>
        </p:nvSpPr>
        <p:spPr>
          <a:xfrm>
            <a:off x="4509950" y="4024024"/>
            <a:ext cx="609601" cy="369332"/>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dirty="0" smtClean="0"/>
              <a:t>c</a:t>
            </a:r>
            <a:endParaRPr lang="en-US" dirty="0"/>
          </a:p>
        </p:txBody>
      </p:sp>
      <p:sp>
        <p:nvSpPr>
          <p:cNvPr id="36" name="TextBox 35"/>
          <p:cNvSpPr txBox="1"/>
          <p:nvPr/>
        </p:nvSpPr>
        <p:spPr>
          <a:xfrm>
            <a:off x="444136" y="6143625"/>
            <a:ext cx="11176364" cy="369332"/>
          </a:xfrm>
          <a:prstGeom prst="rect">
            <a:avLst/>
          </a:prstGeom>
          <a:noFill/>
        </p:spPr>
        <p:txBody>
          <a:bodyPr wrap="square" rtlCol="0">
            <a:spAutoFit/>
          </a:bodyPr>
          <a:lstStyle/>
          <a:p>
            <a:r>
              <a:rPr lang="en-US" dirty="0" smtClean="0"/>
              <a:t>The system continues with the processing, the counter’s value is consistent across a worker failure.</a:t>
            </a:r>
            <a:endParaRPr lang="en-US" dirty="0"/>
          </a:p>
        </p:txBody>
      </p:sp>
    </p:spTree>
    <p:extLst>
      <p:ext uri="{BB962C8B-B14F-4D97-AF65-F5344CB8AC3E}">
        <p14:creationId xmlns:p14="http://schemas.microsoft.com/office/powerpoint/2010/main" val="274840058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932</Words>
  <Application>Microsoft Office PowerPoint</Application>
  <PresentationFormat>Widescreen</PresentationFormat>
  <Paragraphs>292</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Click-Through Example for Flink’s KafkaConsumer Checkpointing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robert-da-win7</dc:creator>
  <cp:lastModifiedBy>robert-da-win7</cp:lastModifiedBy>
  <cp:revision>11</cp:revision>
  <dcterms:created xsi:type="dcterms:W3CDTF">2015-09-01T15:40:00Z</dcterms:created>
  <dcterms:modified xsi:type="dcterms:W3CDTF">2015-09-01T16:56:46Z</dcterms:modified>
</cp:coreProperties>
</file>